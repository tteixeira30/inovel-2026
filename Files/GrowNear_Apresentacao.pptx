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c7b6bec3-5ffa-1f6c-cadc-8b377c9bb49e}">
          <p14:sldIdLst>
            <p14:sldId id="256"/>
          </p14:sldIdLst>
        </p14:section>
        <p14:section name="Negócio" id="{e2230ac3-a40b-6d03-21f1-637f00b87afd}">
          <p14:sldIdLst>
            <p14:sldId id="257"/>
            <p14:sldId id="258"/>
          </p14:sldIdLst>
        </p14:section>
        <p14:section name="Estratégia" id="{ef18c047-c854-dbeb-674b-6d70687d1027}">
          <p14:sldIdLst>
            <p14:sldId id="259"/>
            <p14:sldId id="260"/>
          </p14:sldIdLst>
        </p14:section>
        <p14:section name="Estudo de mercado" id="{05a40766-9846-85f3-805c-0ecf99c0dee0}">
          <p14:sldIdLst>
            <p14:sldId id="261"/>
            <p14:sldId id="262"/>
          </p14:sldIdLst>
        </p14:section>
        <p14:section name="Fecho" id="{fea013e2-7e1a-e39e-8d09-d76271b6f0d8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grupo e a GrowNear numa frase: uma app que liga quem tem excedentes da horta, do pomar ou do galinheiro aos vizinhos que querem comprar produtos locais.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Problema: excedentes de pequenos produtores perdem-se. Solução: app com mapa, reserva e recolha. Modelo: vender é grátis; o comprador paga 0,50 € + 5 % por compra paga na app, com garantia de reembolso.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 a declaração Para / Que / A / Que / Ao contrário de. Sublinhar a diferença: foco nos excedentes de quem não vive da produção, sem burocracia nem intermediários.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Percorrer da direita para a esquerda: segmentos (vendedores e compradores, plataforma multilateral), proposta de valor, canais e relação, fontes de receita (taxa ao comprador), recursos, atividades, parceiros e custos.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Forças: modelo leve, vender grátis, nicho sem concorrente dedicado. Fraquezas e ameaças principais: fuga à plataforma, alternativas grátis, oferta sazonal. Explicar como o modelo responde a cada uma.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só estudo, dirigido aos compradores. O objetivo geral responde a: quem são os compradores mais interessados e em que condições comprariam. OE7 é a síntese, feita na análise.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completar quando o inquérito fechar: número de respostas obtidas, período de recolha e entrega do Excel em bruto.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755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GrowNear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GrowNear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quintal para a mesa do vizinho.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Empreendedorismo e Inovação (INOVEL) · ISEP · 2025/2026 · Momento 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Bruno Lopes 1240441 · Tiago Teixeira 1240493 · Francisco Peixoto 1211648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António Guerra 1190409 · Luis [apelido] [n.º]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Ideia de negócio</a:t>
            </a:r>
            <a:endParaRPr lang="en-US" sz="3000" dirty="0"/>
          </a:p>
        </p:txBody>
      </p:sp>
      <p:sp>
        <p:nvSpPr>
          <p:cNvPr id="3" name="Problema"/>
          <p:cNvSpPr/>
          <p:nvPr/>
        </p:nvSpPr>
        <p:spPr>
          <a:xfrm>
            <a:off x="457200" y="1097280"/>
            <a:ext cx="38404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tem horta, pomar ou galinheiro produz mais do que consome. Em pequenas quantidades não compensa vender, e o excedente perde-se.</a:t>
            </a:r>
            <a:endParaRPr lang="en-US" sz="1400" dirty="0"/>
          </a:p>
        </p:txBody>
      </p:sp>
      <p:sp>
        <p:nvSpPr>
          <p:cNvPr id="5" name="Solução"/>
          <p:cNvSpPr/>
          <p:nvPr/>
        </p:nvSpPr>
        <p:spPr>
          <a:xfrm>
            <a:off x="457200" y="2697480"/>
            <a:ext cx="38404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78892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app marketplace que liga estes pequenos produtores não profissionais aos compradores da mesma zona.</a:t>
            </a:r>
            <a:endParaRPr lang="en-US" sz="1400" dirty="0"/>
          </a:p>
        </p:txBody>
      </p:sp>
      <p:sp>
        <p:nvSpPr>
          <p:cNvPr id="7" name="Passo 1"/>
          <p:cNvSpPr/>
          <p:nvPr/>
        </p:nvSpPr>
        <p:spPr>
          <a:xfrm>
            <a:off x="4663440" y="10972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105156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Anunciar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produtor publica o que tem a mais</a:t>
            </a:r>
            <a:endParaRPr lang="en-US" sz="1500" dirty="0"/>
          </a:p>
        </p:txBody>
      </p:sp>
      <p:sp>
        <p:nvSpPr>
          <p:cNvPr id="10" name="Passo 2"/>
          <p:cNvSpPr/>
          <p:nvPr/>
        </p:nvSpPr>
        <p:spPr>
          <a:xfrm>
            <a:off x="4663440" y="185623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856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181051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Descobrir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comprador vê no mapa o que há perto</a:t>
            </a:r>
            <a:endParaRPr lang="en-US" sz="1500" dirty="0"/>
          </a:p>
        </p:txBody>
      </p:sp>
      <p:sp>
        <p:nvSpPr>
          <p:cNvPr id="13" name="Passo 3"/>
          <p:cNvSpPr/>
          <p:nvPr/>
        </p:nvSpPr>
        <p:spPr>
          <a:xfrm>
            <a:off x="4663440" y="2615184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2615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2569464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Reservar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e paga na app</a:t>
            </a:r>
            <a:endParaRPr lang="en-US" sz="1500" dirty="0"/>
          </a:p>
        </p:txBody>
      </p:sp>
      <p:sp>
        <p:nvSpPr>
          <p:cNvPr id="16" name="Passo 4"/>
          <p:cNvSpPr/>
          <p:nvPr/>
        </p:nvSpPr>
        <p:spPr>
          <a:xfrm>
            <a:off x="4663440" y="337413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3741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3328416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Recolher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casa do produtor ou num ponto de recolha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4160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Vender é grátis.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comprador paga 0,50 € + 5 % por compra (1,00 € em 10 €). Sem entrega ao domicílio.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de valor</a:t>
            </a:r>
            <a:endParaRPr lang="en-US" sz="3000" dirty="0"/>
          </a:p>
        </p:txBody>
      </p:sp>
      <p:sp>
        <p:nvSpPr>
          <p:cNvPr id="3" name="Rótulo 1"/>
          <p:cNvSpPr/>
          <p:nvPr/>
        </p:nvSpPr>
        <p:spPr>
          <a:xfrm>
            <a:off x="457200" y="1097280"/>
            <a:ext cx="146304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097280"/>
            <a:ext cx="6537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pequenos produtores não profissionais com excedentes, e compradores da zona que procuram produtos locais frescos,</a:t>
            </a:r>
            <a:endParaRPr lang="en-US" sz="1500" dirty="0"/>
          </a:p>
        </p:txBody>
      </p:sp>
      <p:sp>
        <p:nvSpPr>
          <p:cNvPr id="6" name="Rótulo 2"/>
          <p:cNvSpPr/>
          <p:nvPr/>
        </p:nvSpPr>
        <p:spPr>
          <a:xfrm>
            <a:off x="457200" y="1783080"/>
            <a:ext cx="146304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148840" y="1783080"/>
            <a:ext cx="6537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têm dificuldade em escoar pequenas quantidades (produtores), ou querem produtos frescos, de origem conhecida, perto de casa (compradores),</a:t>
            </a:r>
            <a:endParaRPr lang="en-US" sz="1500" dirty="0"/>
          </a:p>
        </p:txBody>
      </p:sp>
      <p:sp>
        <p:nvSpPr>
          <p:cNvPr id="9" name="Rótulo 3"/>
          <p:cNvSpPr/>
          <p:nvPr/>
        </p:nvSpPr>
        <p:spPr>
          <a:xfrm>
            <a:off x="457200" y="2468880"/>
            <a:ext cx="146304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68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2468880"/>
            <a:ext cx="6537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GrowNear é uma app marketplace local, com descoberta por mapa,</a:t>
            </a:r>
            <a:endParaRPr lang="en-US" sz="1500" dirty="0"/>
          </a:p>
        </p:txBody>
      </p:sp>
      <p:sp>
        <p:nvSpPr>
          <p:cNvPr id="12" name="Rótulo 4"/>
          <p:cNvSpPr/>
          <p:nvPr/>
        </p:nvSpPr>
        <p:spPr>
          <a:xfrm>
            <a:off x="457200" y="3154680"/>
            <a:ext cx="146304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154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148840" y="3154680"/>
            <a:ext cx="6537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vizinhos: o comprador encontra o que há perto, reserva e paga na app, e recolhe em casa do produtor ou num ponto de recolha.</a:t>
            </a:r>
            <a:endParaRPr lang="en-US" sz="1500" dirty="0"/>
          </a:p>
        </p:txBody>
      </p:sp>
      <p:sp>
        <p:nvSpPr>
          <p:cNvPr id="15" name="Rótulo 5"/>
          <p:cNvSpPr/>
          <p:nvPr/>
        </p:nvSpPr>
        <p:spPr>
          <a:xfrm>
            <a:off x="457200" y="3840480"/>
            <a:ext cx="146304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8404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contrário de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148840" y="3840480"/>
            <a:ext cx="6537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feiras e mercados, lojas de produtos biológicos e anúncios online genéricos.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Canvas</a:t>
            </a:r>
            <a:endParaRPr lang="en-US" sz="3000" dirty="0"/>
          </a:p>
        </p:txBody>
      </p:sp>
      <p:pic>
        <p:nvPicPr>
          <p:cNvPr id="3" name="BMC" descr="Business Model Canvas da GrowNe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214" y="1005840"/>
            <a:ext cx="7387573" cy="3657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SWOT</a:t>
            </a:r>
            <a:endParaRPr lang="en-US" sz="3000" dirty="0"/>
          </a:p>
        </p:txBody>
      </p:sp>
      <p:pic>
        <p:nvPicPr>
          <p:cNvPr id="3" name="SWOT" descr="Análise SWOT da GrowNe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4937760" cy="3703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15000" y="10058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respondemos</a:t>
            </a:r>
            <a:endParaRPr lang="en-US" sz="1600" dirty="0"/>
          </a:p>
        </p:txBody>
      </p:sp>
      <p:sp>
        <p:nvSpPr>
          <p:cNvPr id="5" name="Resposta 1"/>
          <p:cNvSpPr/>
          <p:nvPr/>
        </p:nvSpPr>
        <p:spPr>
          <a:xfrm>
            <a:off x="5715000" y="1463040"/>
            <a:ext cx="29718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52160" y="1536192"/>
            <a:ext cx="2697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Fuga à plataforma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Avaliações, proteção e reembolso só em compras pagas na app</a:t>
            </a:r>
            <a:endParaRPr lang="en-US" sz="1300" dirty="0"/>
          </a:p>
        </p:txBody>
      </p:sp>
      <p:sp>
        <p:nvSpPr>
          <p:cNvPr id="7" name="Resposta 2"/>
          <p:cNvSpPr/>
          <p:nvPr/>
        </p:nvSpPr>
        <p:spPr>
          <a:xfrm>
            <a:off x="5715000" y="2514600"/>
            <a:ext cx="29718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52160" y="2587752"/>
            <a:ext cx="2697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 grátis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Vender continua grátis; mapa e alertas que o OLX não tem</a:t>
            </a:r>
            <a:endParaRPr lang="en-US" sz="1300" dirty="0"/>
          </a:p>
        </p:txBody>
      </p:sp>
      <p:sp>
        <p:nvSpPr>
          <p:cNvPr id="9" name="Resposta 3"/>
          <p:cNvSpPr/>
          <p:nvPr/>
        </p:nvSpPr>
        <p:spPr>
          <a:xfrm>
            <a:off x="5715000" y="3566160"/>
            <a:ext cx="29718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52160" y="3639312"/>
            <a:ext cx="2697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sazonal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"avisem-me" quando o produto voltar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do estudo de mercado</a:t>
            </a:r>
            <a:endParaRPr lang="en-US" sz="3000" dirty="0"/>
          </a:p>
        </p:txBody>
      </p:sp>
      <p:sp>
        <p:nvSpPr>
          <p:cNvPr id="3" name="Objetivo geral"/>
          <p:cNvSpPr/>
          <p:nvPr/>
        </p:nvSpPr>
        <p:spPr>
          <a:xfrm>
            <a:off x="457200" y="100584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515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geral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os segmentos de compradores com maior interesse em comprar produtos locais a pequenos produtores através de uma app como a GrowNear, e as condições em que o fariam.</a:t>
            </a:r>
            <a:endParaRPr lang="en-US" sz="1400" dirty="0"/>
          </a:p>
        </p:txBody>
      </p:sp>
      <p:sp>
        <p:nvSpPr>
          <p:cNvPr id="5" name="OE1"/>
          <p:cNvSpPr/>
          <p:nvPr/>
        </p:nvSpPr>
        <p:spPr>
          <a:xfrm>
            <a:off x="457200" y="210312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22128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606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dos inquiridos</a:t>
            </a:r>
            <a:endParaRPr lang="en-US" sz="1400" dirty="0"/>
          </a:p>
        </p:txBody>
      </p:sp>
      <p:sp>
        <p:nvSpPr>
          <p:cNvPr id="8" name="OE2"/>
          <p:cNvSpPr/>
          <p:nvPr/>
        </p:nvSpPr>
        <p:spPr>
          <a:xfrm>
            <a:off x="2560320" y="210312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97480" y="22128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606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Hábitos de compra</a:t>
            </a:r>
            <a:endParaRPr lang="en-US" sz="1400" dirty="0"/>
          </a:p>
        </p:txBody>
      </p:sp>
      <p:sp>
        <p:nvSpPr>
          <p:cNvPr id="11" name="OE3"/>
          <p:cNvSpPr/>
          <p:nvPr/>
        </p:nvSpPr>
        <p:spPr>
          <a:xfrm>
            <a:off x="4663440" y="210312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22128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2606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Interesse e barreiras</a:t>
            </a:r>
            <a:endParaRPr lang="en-US" sz="1400" dirty="0"/>
          </a:p>
        </p:txBody>
      </p:sp>
      <p:sp>
        <p:nvSpPr>
          <p:cNvPr id="14" name="OE4"/>
          <p:cNvSpPr/>
          <p:nvPr/>
        </p:nvSpPr>
        <p:spPr>
          <a:xfrm>
            <a:off x="6766560" y="210312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03720" y="22128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OE4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2606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Deslocação e recolha</a:t>
            </a:r>
            <a:endParaRPr lang="en-US" sz="1400" dirty="0"/>
          </a:p>
        </p:txBody>
      </p:sp>
      <p:sp>
        <p:nvSpPr>
          <p:cNvPr id="17" name="OE5"/>
          <p:cNvSpPr/>
          <p:nvPr/>
        </p:nvSpPr>
        <p:spPr>
          <a:xfrm>
            <a:off x="457200" y="333756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4472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OE5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3840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compra</a:t>
            </a:r>
            <a:endParaRPr lang="en-US" sz="1400" dirty="0"/>
          </a:p>
        </p:txBody>
      </p:sp>
      <p:sp>
        <p:nvSpPr>
          <p:cNvPr id="20" name="OE6"/>
          <p:cNvSpPr/>
          <p:nvPr/>
        </p:nvSpPr>
        <p:spPr>
          <a:xfrm>
            <a:off x="2560320" y="333756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697480" y="34472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OE6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2697480" y="3840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e taxa</a:t>
            </a:r>
            <a:endParaRPr lang="en-US" sz="1400" dirty="0"/>
          </a:p>
        </p:txBody>
      </p:sp>
      <p:sp>
        <p:nvSpPr>
          <p:cNvPr id="23" name="OE7"/>
          <p:cNvSpPr/>
          <p:nvPr/>
        </p:nvSpPr>
        <p:spPr>
          <a:xfrm>
            <a:off x="4663440" y="333756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00600" y="34472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OE7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4800600" y="3840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 prioritários</a:t>
            </a:r>
            <a:endParaRPr lang="en-US" sz="1400" dirty="0"/>
          </a:p>
        </p:txBody>
      </p:sp>
      <p:sp>
        <p:nvSpPr>
          <p:cNvPr id="26" name="OE8"/>
          <p:cNvSpPr/>
          <p:nvPr/>
        </p:nvSpPr>
        <p:spPr>
          <a:xfrm>
            <a:off x="6766560" y="3337560"/>
            <a:ext cx="1920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03720" y="34472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OE8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903720" y="3840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da época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5262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OE7 não tem perguntas próprias: resulta do cruzamento do interesse com o perfil e os hábitos.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Recolha de respostas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Questões?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owNear">
  <a:themeElements>
    <a:clrScheme name="GrowNear">
      <a:dk1>
        <a:srgbClr val="1F2A24"/>
      </a:dk1>
      <a:lt1>
        <a:srgbClr val="FFFFFF"/>
      </a:lt1>
      <a:dk2>
        <a:srgbClr val="17552E"/>
      </a:dk2>
      <a:lt2>
        <a:srgbClr val="EEF5EF"/>
      </a:lt2>
      <a:accent1>
        <a:srgbClr val="1E8A44"/>
      </a:accent1>
      <a:accent2>
        <a:srgbClr val="E2672B"/>
      </a:accent2>
      <a:accent3>
        <a:srgbClr val="8CC63F"/>
      </a:accent3>
      <a:accent4>
        <a:srgbClr val="5B6B60"/>
      </a:accent4>
      <a:accent5>
        <a:srgbClr val="C9DFCD"/>
      </a:accent5>
      <a:accent6>
        <a:srgbClr val="F6D7C6"/>
      </a:accent6>
      <a:hlink>
        <a:srgbClr val="1E8A44"/>
      </a:hlink>
      <a:folHlink>
        <a:srgbClr val="17552E"/>
      </a:folHlink>
    </a:clrScheme>
    <a:fontScheme name="GrowNea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GrowNear — Momento 1</dc:title>
  <dc:subject>PptxGenJS Presentation</dc:subject>
  <dc:creator>Grupo GrowNear</dc:creator>
  <cp:lastModifiedBy>Grupo GrowNear</cp:lastModifiedBy>
  <cp:revision>1</cp:revision>
  <dcterms:created xsi:type="dcterms:W3CDTF">2026-10-11T11:02:25Z</dcterms:created>
  <dcterms:modified xsi:type="dcterms:W3CDTF">2026-10-11T11:02:25Z</dcterms:modified>
</cp:coreProperties>
</file>