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4" r:id="rId9"/>
    <p:sldId id="265" r:id="rId10"/>
    <p:sldId id="266" r:id="rId11"/>
    <p:sldId id="263" r:id="rId12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bertura" id="{C7B6BEC3-5FFA-1F6C-CADC-8B377C9BB49E}">
          <p14:sldIdLst>
            <p14:sldId id="256"/>
          </p14:sldIdLst>
        </p14:section>
        <p14:section name="Negócio" id="{E2230AC3-A40B-6D03-21F1-637F00B87AFD}">
          <p14:sldIdLst>
            <p14:sldId id="257"/>
            <p14:sldId id="258"/>
          </p14:sldIdLst>
        </p14:section>
        <p14:section name="Estratégia" id="{EF18C047-C854-DBEB-674B-6D70687D1027}">
          <p14:sldIdLst>
            <p14:sldId id="259"/>
            <p14:sldId id="260"/>
          </p14:sldIdLst>
        </p14:section>
        <p14:section name="Estudo de mercado" id="{05A40766-9846-85F3-805C-0ECF99C0DEE0}">
          <p14:sldIdLst>
            <p14:sldId id="261"/>
            <p14:sldId id="262"/>
            <p14:sldId id="264"/>
            <p14:sldId id="265"/>
            <p14:sldId id="266"/>
          </p14:sldIdLst>
        </p14:section>
        <p14:section name="Fecho" id="{FEA013E2-7E1A-E39E-8D09-D76271B6F0D8}">
          <p14:sldIdLst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573267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Apresentar o grupo e a GrowNear numa frase: uma app que liga quem tem excedentes da horta, do pomar ou do galinheiro aos vizinhos que querem comprar produtos locais.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Problema: excedentes de pequenos produtores perdem-se. Solução: app com mapa, reserva e recolha. Modelo: vender é grátis; o comprador paga 0,50 € + 5 % por compra paga na app, com garantia de reembolso.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Ler a declaração Para / Que / A / Que / Ao contrário de. Sublinhar a diferença: foco nos excedentes de quem não vive da produção, sem burocracia nem intermediários.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Percorrer da direita para a esquerda: segmentos (vendedores e compradores, plataforma multilateral), proposta de valor, canais e relação, fontes de receita (taxa ao comprador), recursos, atividades, parceiros e custos.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Forças: modelo leve, vender grátis, nicho sem concorrente dedicado. Fraquezas e ameaças principais: fuga à plataforma, alternativas grátis, oferta sazonal. Explicar como o modelo responde a cada uma.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Um só estudo, dirigido aos compradores. O objetivo geral responde a: quem são os compradores mais interessados e em que condições comprariam. OE7 é a síntese, feita na análise.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O inquérito esteve aberto de 8 a 11 de outubro e recebeu 114 respostas completas. Excluímos uma de quem vive fora de Portugal, ficando 113 válidas, com margem de erro de cerca de 9 pontos. A amostra é por conveniência: mais velha e mais feminina do que a população, mas é quem decide as compras da casa.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Há interesse, moderado: metade dá 4 ou 5. A frescura é o argumento principal. O raio de recolha tem de ser curto, cerca de 10 minutos. A taxa é aceite, mas a maioria prefere pagar ao produtor na recolha: o problema é a confiança em pagar antes a um desconhecido. A sazonalidade é aceite, mas quando falta um produto as pessoas compram noutro lado.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Confirmámos que o interesse está acima do ponto neutro e que a taxa é aceite. Rejeitámos que metade aceite deslocar-se mais de 10 minutos. Quem já tem acesso a produtos locais, por horta ou por comprar a produtores, mostra menos interesse. O segmento prioritário são os responsáveis pelas compras, 35 a 54 anos, em meio urbano e sem horta. As diferenças sociodemográficas não são significativas; a única significativa é a confiança no pagamento.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PT"/>
              <a:t>Os resultados confirmam a taxa e os pontos de recolha e obrigam a três ajustes: comunicar a frescura em vez do preço, limitar o raio de pesquisa a 10 minutos e resolver a desconfiança no pagamento antecipado com reembolso garantido e pagamento ao produtor só depois da recolha.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755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18872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54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marL="0" indent="0" algn="l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457200" y="47548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GrowNear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1887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GrowNear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774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i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quintal para a mesa do vizinho.</a:t>
            </a:r>
            <a:endParaRPr lang="en-US" sz="22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01752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Empreendedorismo e Inovação (INOVEL) · ISEP · 2025/2026 · Momento 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402336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Lopes 1240441 · Tiago Teixeira 1240493 · Francisco Peixoto 1211648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chemeClr val="accent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António Guerra 1190409 · Luis Santos 1250534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Ideia de negócio</a:t>
            </a:r>
            <a:endParaRPr lang="en-US" sz="3000" dirty="0"/>
          </a:p>
        </p:txBody>
      </p:sp>
      <p:sp>
        <p:nvSpPr>
          <p:cNvPr id="3" name="Problema"/>
          <p:cNvSpPr/>
          <p:nvPr/>
        </p:nvSpPr>
        <p:spPr>
          <a:xfrm>
            <a:off x="457200" y="1097280"/>
            <a:ext cx="3840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188720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tem horta, pomar ou galinheiro produz mais do que consome. Em pequenas quantidades não compensa vender, e o excedente perde-se.</a:t>
            </a:r>
            <a:endParaRPr lang="en-US" sz="1400" dirty="0"/>
          </a:p>
        </p:txBody>
      </p:sp>
      <p:sp>
        <p:nvSpPr>
          <p:cNvPr id="5" name="Solução"/>
          <p:cNvSpPr/>
          <p:nvPr/>
        </p:nvSpPr>
        <p:spPr>
          <a:xfrm>
            <a:off x="457200" y="2697480"/>
            <a:ext cx="3840480" cy="1417320"/>
          </a:xfrm>
          <a:prstGeom prst="roundRect">
            <a:avLst>
              <a:gd name="adj" fmla="val 516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788920"/>
            <a:ext cx="347472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app marketplace que liga estes pequenos produtores não profissionais aos compradores da mesma zona.</a:t>
            </a:r>
            <a:endParaRPr lang="en-US" sz="1400" dirty="0"/>
          </a:p>
        </p:txBody>
      </p:sp>
      <p:sp>
        <p:nvSpPr>
          <p:cNvPr id="7" name="Passo 1"/>
          <p:cNvSpPr/>
          <p:nvPr/>
        </p:nvSpPr>
        <p:spPr>
          <a:xfrm>
            <a:off x="4663440" y="10972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663440" y="10972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5349240" y="1051560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Anunciar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produtor publica o que tem a mais</a:t>
            </a:r>
            <a:endParaRPr lang="en-US" sz="1500" dirty="0"/>
          </a:p>
        </p:txBody>
      </p:sp>
      <p:sp>
        <p:nvSpPr>
          <p:cNvPr id="10" name="Passo 2"/>
          <p:cNvSpPr/>
          <p:nvPr/>
        </p:nvSpPr>
        <p:spPr>
          <a:xfrm>
            <a:off x="4663440" y="1856232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63440" y="18562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5349240" y="1810512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Descobrir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comprador vê no mapa o que há perto</a:t>
            </a:r>
            <a:endParaRPr lang="en-US" sz="1500" dirty="0"/>
          </a:p>
        </p:txBody>
      </p:sp>
      <p:sp>
        <p:nvSpPr>
          <p:cNvPr id="13" name="Passo 3"/>
          <p:cNvSpPr/>
          <p:nvPr/>
        </p:nvSpPr>
        <p:spPr>
          <a:xfrm>
            <a:off x="4663440" y="2615184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4663440" y="2615184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349240" y="2569464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Reservar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 e paga na app</a:t>
            </a:r>
            <a:endParaRPr lang="en-US" sz="1500" dirty="0"/>
          </a:p>
        </p:txBody>
      </p:sp>
      <p:sp>
        <p:nvSpPr>
          <p:cNvPr id="16" name="Passo 4"/>
          <p:cNvSpPr/>
          <p:nvPr/>
        </p:nvSpPr>
        <p:spPr>
          <a:xfrm>
            <a:off x="4663440" y="3374136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663440" y="3374136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5349240" y="3328416"/>
            <a:ext cx="33375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Recolher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casa do produtor ou num ponto de recolha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663440" y="4160520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é grátis. </a:t>
            </a: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comprador paga 0,50 € + 5 % por compra (1,00 € em 10 €). Sem entrega ao domicílio.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Proposta de valor</a:t>
            </a:r>
            <a:endParaRPr lang="en-US" sz="3000" dirty="0"/>
          </a:p>
        </p:txBody>
      </p:sp>
      <p:sp>
        <p:nvSpPr>
          <p:cNvPr id="3" name="Rótulo 1"/>
          <p:cNvSpPr/>
          <p:nvPr/>
        </p:nvSpPr>
        <p:spPr>
          <a:xfrm>
            <a:off x="457200" y="109728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0972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2148840" y="1097280"/>
            <a:ext cx="6537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pequenos produtores não profissionais com excedentes, e compradores da zona que procuram produtos locais frescos,</a:t>
            </a:r>
            <a:endParaRPr lang="en-US" sz="1500" dirty="0"/>
          </a:p>
        </p:txBody>
      </p:sp>
      <p:sp>
        <p:nvSpPr>
          <p:cNvPr id="6" name="Rótulo 2"/>
          <p:cNvSpPr/>
          <p:nvPr/>
        </p:nvSpPr>
        <p:spPr>
          <a:xfrm>
            <a:off x="457200" y="178308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7200" y="17830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2148840" y="1783080"/>
            <a:ext cx="6537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têm dificuldade em escoar pequenas quantidades (produtores), ou querem produtos frescos, de origem conhecida, perto de casa (compradores),</a:t>
            </a:r>
            <a:endParaRPr lang="en-US" sz="1500" dirty="0"/>
          </a:p>
        </p:txBody>
      </p:sp>
      <p:sp>
        <p:nvSpPr>
          <p:cNvPr id="9" name="Rótulo 3"/>
          <p:cNvSpPr/>
          <p:nvPr/>
        </p:nvSpPr>
        <p:spPr>
          <a:xfrm>
            <a:off x="457200" y="246888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7200" y="24688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2148840" y="2468880"/>
            <a:ext cx="6537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GrowNear é uma app marketplace local, com descoberta por mapa,</a:t>
            </a:r>
            <a:endParaRPr lang="en-US" sz="1500" dirty="0"/>
          </a:p>
        </p:txBody>
      </p:sp>
      <p:sp>
        <p:nvSpPr>
          <p:cNvPr id="12" name="Rótulo 4"/>
          <p:cNvSpPr/>
          <p:nvPr/>
        </p:nvSpPr>
        <p:spPr>
          <a:xfrm>
            <a:off x="457200" y="315468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457200" y="31546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148840" y="3154680"/>
            <a:ext cx="6537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liga vizinhos: o comprador encontra o que há perto, reserva e paga na app, e recolhe em casa do produtor ou num ponto de recolha.</a:t>
            </a:r>
            <a:endParaRPr lang="en-US" sz="1500" dirty="0"/>
          </a:p>
        </p:txBody>
      </p:sp>
      <p:sp>
        <p:nvSpPr>
          <p:cNvPr id="15" name="Rótulo 5"/>
          <p:cNvSpPr/>
          <p:nvPr/>
        </p:nvSpPr>
        <p:spPr>
          <a:xfrm>
            <a:off x="457200" y="3840480"/>
            <a:ext cx="1463040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" y="3840480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Ao contrário de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2148840" y="3840480"/>
            <a:ext cx="6537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feiras e mercados, lojas de produtos biológicos e anúncios online genéricos.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Business Model Canvas</a:t>
            </a:r>
            <a:endParaRPr lang="en-US" sz="3000" dirty="0"/>
          </a:p>
        </p:txBody>
      </p:sp>
      <p:pic>
        <p:nvPicPr>
          <p:cNvPr id="3" name="BMC" descr="Business Model Canvas da GrowNe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8214" y="1005840"/>
            <a:ext cx="7387573" cy="365760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SWOT</a:t>
            </a:r>
            <a:endParaRPr lang="en-US" sz="3000" dirty="0"/>
          </a:p>
        </p:txBody>
      </p:sp>
      <p:pic>
        <p:nvPicPr>
          <p:cNvPr id="3" name="SWOT" descr="Análise SWOT da GrowNea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60120"/>
            <a:ext cx="4937760" cy="37033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5715000" y="1005840"/>
            <a:ext cx="2971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respondemos</a:t>
            </a:r>
            <a:endParaRPr lang="en-US" sz="1600" dirty="0"/>
          </a:p>
        </p:txBody>
      </p:sp>
      <p:sp>
        <p:nvSpPr>
          <p:cNvPr id="5" name="Resposta 1"/>
          <p:cNvSpPr/>
          <p:nvPr/>
        </p:nvSpPr>
        <p:spPr>
          <a:xfrm>
            <a:off x="5715000" y="1463040"/>
            <a:ext cx="29718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5852160" y="1536192"/>
            <a:ext cx="2697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Fuga à plataforma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Avaliações, proteção e reembolso só em compras pagas na app</a:t>
            </a:r>
            <a:endParaRPr lang="en-US" sz="1300" dirty="0"/>
          </a:p>
        </p:txBody>
      </p:sp>
      <p:sp>
        <p:nvSpPr>
          <p:cNvPr id="7" name="Resposta 2"/>
          <p:cNvSpPr/>
          <p:nvPr/>
        </p:nvSpPr>
        <p:spPr>
          <a:xfrm>
            <a:off x="5715000" y="2514600"/>
            <a:ext cx="29718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5852160" y="2587752"/>
            <a:ext cx="2697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Alternativas grátis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Vender continua grátis; mapa e alertas que o OLX não tem</a:t>
            </a:r>
            <a:endParaRPr lang="en-US" sz="1300" dirty="0"/>
          </a:p>
        </p:txBody>
      </p:sp>
      <p:sp>
        <p:nvSpPr>
          <p:cNvPr id="9" name="Resposta 3"/>
          <p:cNvSpPr/>
          <p:nvPr/>
        </p:nvSpPr>
        <p:spPr>
          <a:xfrm>
            <a:off x="5715000" y="3566160"/>
            <a:ext cx="2971800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852160" y="3639312"/>
            <a:ext cx="269748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dirty="0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Oferta sazonal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Alertas "avisem-me" quando o produto voltar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Objetivos do estudo de mercado</a:t>
            </a:r>
            <a:endParaRPr lang="en-US" sz="3000" dirty="0"/>
          </a:p>
        </p:txBody>
      </p:sp>
      <p:sp>
        <p:nvSpPr>
          <p:cNvPr id="3" name="Objetivo geral"/>
          <p:cNvSpPr/>
          <p:nvPr/>
        </p:nvSpPr>
        <p:spPr>
          <a:xfrm>
            <a:off x="457200" y="1005840"/>
            <a:ext cx="8229600" cy="868680"/>
          </a:xfrm>
          <a:prstGeom prst="roundRect">
            <a:avLst>
              <a:gd name="adj" fmla="val 8421"/>
            </a:avLst>
          </a:prstGeom>
          <a:solidFill>
            <a:schemeClr val="tx2"/>
          </a:solidFill>
          <a:ln w="12700">
            <a:solidFill>
              <a:schemeClr val="tx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40080" y="1051560"/>
            <a:ext cx="78638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geral  </a:t>
            </a:r>
            <a:r>
              <a:rPr lang="en-US" sz="1400" dirty="0">
                <a:solidFill>
                  <a:schemeClr val="bg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Identificar os segmentos de compradores com maior interesse em comprar produtos locais a pequenos produtores através de uma app como a GrowNear, e as condições em que o fariam.</a:t>
            </a:r>
            <a:endParaRPr lang="en-US" sz="1400" dirty="0"/>
          </a:p>
        </p:txBody>
      </p:sp>
      <p:sp>
        <p:nvSpPr>
          <p:cNvPr id="5" name="OE1"/>
          <p:cNvSpPr/>
          <p:nvPr/>
        </p:nvSpPr>
        <p:spPr>
          <a:xfrm>
            <a:off x="457200" y="210312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94360" y="22128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OE1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9436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Perfil dos inquiridos</a:t>
            </a:r>
            <a:endParaRPr lang="en-US" sz="1400" dirty="0"/>
          </a:p>
        </p:txBody>
      </p:sp>
      <p:sp>
        <p:nvSpPr>
          <p:cNvPr id="8" name="OE2"/>
          <p:cNvSpPr/>
          <p:nvPr/>
        </p:nvSpPr>
        <p:spPr>
          <a:xfrm>
            <a:off x="2560320" y="210312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697480" y="22128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OE2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269748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Hábitos de compra</a:t>
            </a:r>
            <a:endParaRPr lang="en-US" sz="1400" dirty="0"/>
          </a:p>
        </p:txBody>
      </p:sp>
      <p:sp>
        <p:nvSpPr>
          <p:cNvPr id="11" name="OE3"/>
          <p:cNvSpPr/>
          <p:nvPr/>
        </p:nvSpPr>
        <p:spPr>
          <a:xfrm>
            <a:off x="4663440" y="210312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00600" y="22128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Interesse e barreiras</a:t>
            </a:r>
            <a:endParaRPr lang="en-US" sz="1400" dirty="0"/>
          </a:p>
        </p:txBody>
      </p:sp>
      <p:sp>
        <p:nvSpPr>
          <p:cNvPr id="14" name="OE4"/>
          <p:cNvSpPr/>
          <p:nvPr/>
        </p:nvSpPr>
        <p:spPr>
          <a:xfrm>
            <a:off x="6766560" y="210312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03720" y="221284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OE4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6903720" y="26060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Deslocação e recolha</a:t>
            </a:r>
            <a:endParaRPr lang="en-US" sz="1400" dirty="0"/>
          </a:p>
        </p:txBody>
      </p:sp>
      <p:sp>
        <p:nvSpPr>
          <p:cNvPr id="17" name="OE5"/>
          <p:cNvSpPr/>
          <p:nvPr/>
        </p:nvSpPr>
        <p:spPr>
          <a:xfrm>
            <a:off x="457200" y="333756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94360" y="34472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OE5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59436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compra</a:t>
            </a:r>
            <a:endParaRPr lang="en-US" sz="1400" dirty="0"/>
          </a:p>
        </p:txBody>
      </p:sp>
      <p:sp>
        <p:nvSpPr>
          <p:cNvPr id="20" name="OE6"/>
          <p:cNvSpPr/>
          <p:nvPr/>
        </p:nvSpPr>
        <p:spPr>
          <a:xfrm>
            <a:off x="2560320" y="333756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2697480" y="34472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OE6</a:t>
            </a:r>
            <a:endParaRPr lang="en-US" sz="1800" dirty="0"/>
          </a:p>
        </p:txBody>
      </p:sp>
      <p:sp>
        <p:nvSpPr>
          <p:cNvPr id="22" name="Text 20"/>
          <p:cNvSpPr txBox="1"/>
          <p:nvPr/>
        </p:nvSpPr>
        <p:spPr>
          <a:xfrm>
            <a:off x="269748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e taxa</a:t>
            </a:r>
            <a:endParaRPr lang="en-US" sz="1400" dirty="0"/>
          </a:p>
        </p:txBody>
      </p:sp>
      <p:sp>
        <p:nvSpPr>
          <p:cNvPr id="23" name="OE7"/>
          <p:cNvSpPr/>
          <p:nvPr/>
        </p:nvSpPr>
        <p:spPr>
          <a:xfrm>
            <a:off x="4663440" y="333756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00600" y="34472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OE7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480060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Segmentos prioritários</a:t>
            </a:r>
            <a:endParaRPr lang="en-US" sz="1400" dirty="0"/>
          </a:p>
        </p:txBody>
      </p:sp>
      <p:sp>
        <p:nvSpPr>
          <p:cNvPr id="26" name="OE8"/>
          <p:cNvSpPr/>
          <p:nvPr/>
        </p:nvSpPr>
        <p:spPr>
          <a:xfrm>
            <a:off x="6766560" y="3337560"/>
            <a:ext cx="1920240" cy="1051560"/>
          </a:xfrm>
          <a:prstGeom prst="roundRect">
            <a:avLst>
              <a:gd name="adj" fmla="val 695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903720" y="3447288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chemeClr val="accent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OE8</a:t>
            </a:r>
            <a:endParaRPr lang="en-US" sz="1800" dirty="0"/>
          </a:p>
        </p:txBody>
      </p:sp>
      <p:sp>
        <p:nvSpPr>
          <p:cNvPr id="28" name="Text 26"/>
          <p:cNvSpPr txBox="1"/>
          <p:nvPr/>
        </p:nvSpPr>
        <p:spPr>
          <a:xfrm>
            <a:off x="6903720" y="384048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Produtos da época</a:t>
            </a:r>
            <a:endParaRPr lang="en-US" sz="1400" dirty="0"/>
          </a:p>
        </p:txBody>
      </p:sp>
      <p:sp>
        <p:nvSpPr>
          <p:cNvPr id="29" name="Text 27"/>
          <p:cNvSpPr txBox="1"/>
          <p:nvPr/>
        </p:nvSpPr>
        <p:spPr>
          <a:xfrm>
            <a:off x="457200" y="4526280"/>
            <a:ext cx="7680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i="1" dirty="0">
                <a:solidFill>
                  <a:schemeClr val="accent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OE7 não tem perguntas próprias: resulta do cruzamento do interesse com o perfil e os hábitos.</a:t>
            </a:r>
            <a:endParaRPr lang="en-US" sz="1100" dirty="0"/>
          </a:p>
        </p:txBody>
      </p:sp>
      <p:sp>
        <p:nvSpPr>
          <p:cNvPr id="30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Recolha de respostas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7</a:t>
            </a:fld>
            <a:endParaRPr lang="en-US"/>
          </a:p>
        </p:txBody>
      </p:sp>
      <p:sp>
        <p:nvSpPr>
          <p:cNvPr id="3" name="Recolha 1">
            <a:extLst>
              <a:ext uri="{FF2B5EF4-FFF2-40B4-BE49-F238E27FC236}">
                <a16:creationId xmlns:a16="http://schemas.microsoft.com/office/drawing/2014/main" id="{C77A342E-360F-D0CB-583C-A5C7CDFE1C8F}"/>
              </a:ext>
            </a:extLst>
          </p:cNvPr>
          <p:cNvSpPr/>
          <p:nvPr/>
        </p:nvSpPr>
        <p:spPr>
          <a:xfrm>
            <a:off x="457200" y="1092200"/>
            <a:ext cx="1917700" cy="1219200"/>
          </a:xfrm>
          <a:prstGeom prst="roundRect">
            <a:avLst>
              <a:gd name="adj" fmla="val 6250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6463E819-8B97-8E5F-4DC8-FE4302E46E57}"/>
              </a:ext>
            </a:extLst>
          </p:cNvPr>
          <p:cNvSpPr txBox="1"/>
          <p:nvPr/>
        </p:nvSpPr>
        <p:spPr>
          <a:xfrm>
            <a:off x="609600" y="1244599"/>
            <a:ext cx="16129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3000" b="1">
                <a:solidFill>
                  <a:srgbClr val="1E8A44"/>
                </a:solidFill>
                <a:latin typeface="Arial" panose="020B0604020202020204" pitchFamily="34" charset="0"/>
              </a:rPr>
              <a:t>114</a:t>
            </a:r>
          </a:p>
          <a:p>
            <a:r>
              <a:rPr lang="pt-PT" sz="1400">
                <a:solidFill>
                  <a:srgbClr val="1F2A24"/>
                </a:solidFill>
                <a:latin typeface="Calibri" panose="020F0502020204030204" pitchFamily="34" charset="0"/>
              </a:rPr>
              <a:t>respostas recebidas</a:t>
            </a:r>
          </a:p>
        </p:txBody>
      </p:sp>
      <p:sp>
        <p:nvSpPr>
          <p:cNvPr id="5" name="Recolha 2">
            <a:extLst>
              <a:ext uri="{FF2B5EF4-FFF2-40B4-BE49-F238E27FC236}">
                <a16:creationId xmlns:a16="http://schemas.microsoft.com/office/drawing/2014/main" id="{6CF048B0-D18B-8A30-B8A9-475EE0F1A99C}"/>
              </a:ext>
            </a:extLst>
          </p:cNvPr>
          <p:cNvSpPr/>
          <p:nvPr/>
        </p:nvSpPr>
        <p:spPr>
          <a:xfrm>
            <a:off x="2569591" y="1092200"/>
            <a:ext cx="1917700" cy="1219200"/>
          </a:xfrm>
          <a:prstGeom prst="roundRect">
            <a:avLst>
              <a:gd name="adj" fmla="val 6250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AA5FAC2-FEA0-7415-3975-A76460927AB1}"/>
              </a:ext>
            </a:extLst>
          </p:cNvPr>
          <p:cNvSpPr txBox="1"/>
          <p:nvPr/>
        </p:nvSpPr>
        <p:spPr>
          <a:xfrm>
            <a:off x="2721991" y="1244599"/>
            <a:ext cx="16129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3000" b="1">
                <a:solidFill>
                  <a:srgbClr val="1E8A44"/>
                </a:solidFill>
                <a:latin typeface="Arial" panose="020B0604020202020204" pitchFamily="34" charset="0"/>
              </a:rPr>
              <a:t>113</a:t>
            </a:r>
          </a:p>
          <a:p>
            <a:r>
              <a:rPr lang="pt-PT" sz="1400">
                <a:solidFill>
                  <a:srgbClr val="1F2A24"/>
                </a:solidFill>
                <a:latin typeface="Calibri" panose="020F0502020204030204" pitchFamily="34" charset="0"/>
              </a:rPr>
              <a:t>respostas válidas</a:t>
            </a:r>
          </a:p>
        </p:txBody>
      </p:sp>
      <p:sp>
        <p:nvSpPr>
          <p:cNvPr id="7" name="Recolha 3">
            <a:extLst>
              <a:ext uri="{FF2B5EF4-FFF2-40B4-BE49-F238E27FC236}">
                <a16:creationId xmlns:a16="http://schemas.microsoft.com/office/drawing/2014/main" id="{77B7FE52-3E3B-8231-8885-3DCCC37F1D6F}"/>
              </a:ext>
            </a:extLst>
          </p:cNvPr>
          <p:cNvSpPr/>
          <p:nvPr/>
        </p:nvSpPr>
        <p:spPr>
          <a:xfrm>
            <a:off x="4681982" y="1092200"/>
            <a:ext cx="1917700" cy="1219200"/>
          </a:xfrm>
          <a:prstGeom prst="roundRect">
            <a:avLst>
              <a:gd name="adj" fmla="val 6250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1F74FD-066C-0C9B-12E4-F450EE39D0F0}"/>
              </a:ext>
            </a:extLst>
          </p:cNvPr>
          <p:cNvSpPr txBox="1"/>
          <p:nvPr/>
        </p:nvSpPr>
        <p:spPr>
          <a:xfrm>
            <a:off x="4834382" y="1244599"/>
            <a:ext cx="16129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3000" b="1">
                <a:solidFill>
                  <a:srgbClr val="1E8A44"/>
                </a:solidFill>
                <a:latin typeface="Arial" panose="020B0604020202020204" pitchFamily="34" charset="0"/>
              </a:rPr>
              <a:t>4 dias</a:t>
            </a:r>
          </a:p>
          <a:p>
            <a:r>
              <a:rPr lang="pt-PT" sz="1400">
                <a:solidFill>
                  <a:srgbClr val="1F2A24"/>
                </a:solidFill>
                <a:latin typeface="Calibri" panose="020F0502020204030204" pitchFamily="34" charset="0"/>
              </a:rPr>
              <a:t>de 08 a 11/10/2026</a:t>
            </a:r>
          </a:p>
        </p:txBody>
      </p:sp>
      <p:sp>
        <p:nvSpPr>
          <p:cNvPr id="9" name="Recolha 4">
            <a:extLst>
              <a:ext uri="{FF2B5EF4-FFF2-40B4-BE49-F238E27FC236}">
                <a16:creationId xmlns:a16="http://schemas.microsoft.com/office/drawing/2014/main" id="{7409832E-0EC7-D0FB-0100-74503BDDA463}"/>
              </a:ext>
            </a:extLst>
          </p:cNvPr>
          <p:cNvSpPr/>
          <p:nvPr/>
        </p:nvSpPr>
        <p:spPr>
          <a:xfrm>
            <a:off x="6794373" y="1092200"/>
            <a:ext cx="1917700" cy="1219200"/>
          </a:xfrm>
          <a:prstGeom prst="roundRect">
            <a:avLst>
              <a:gd name="adj" fmla="val 6250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C9C259C3-DD0D-4E42-4903-491D90C08E16}"/>
              </a:ext>
            </a:extLst>
          </p:cNvPr>
          <p:cNvSpPr txBox="1"/>
          <p:nvPr/>
        </p:nvSpPr>
        <p:spPr>
          <a:xfrm>
            <a:off x="6946773" y="1244599"/>
            <a:ext cx="1612900" cy="914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3000" b="1">
                <a:solidFill>
                  <a:srgbClr val="1E8A44"/>
                </a:solidFill>
                <a:latin typeface="Arial" panose="020B0604020202020204" pitchFamily="34" charset="0"/>
              </a:rPr>
              <a:t>±9,2 pp</a:t>
            </a:r>
          </a:p>
          <a:p>
            <a:r>
              <a:rPr lang="pt-PT" sz="1400">
                <a:solidFill>
                  <a:srgbClr val="1F2A24"/>
                </a:solidFill>
                <a:latin typeface="Calibri" panose="020F0502020204030204" pitchFamily="34" charset="0"/>
              </a:rPr>
              <a:t>margem de erro</a:t>
            </a:r>
          </a:p>
        </p:txBody>
      </p:sp>
      <p:sp>
        <p:nvSpPr>
          <p:cNvPr id="11" name="Perfil">
            <a:extLst>
              <a:ext uri="{FF2B5EF4-FFF2-40B4-BE49-F238E27FC236}">
                <a16:creationId xmlns:a16="http://schemas.microsoft.com/office/drawing/2014/main" id="{A428F4FF-0E88-C428-FCE5-E5B8F808F505}"/>
              </a:ext>
            </a:extLst>
          </p:cNvPr>
          <p:cNvSpPr/>
          <p:nvPr/>
        </p:nvSpPr>
        <p:spPr>
          <a:xfrm>
            <a:off x="457200" y="2514600"/>
            <a:ext cx="8229600" cy="1524000"/>
          </a:xfrm>
          <a:prstGeom prst="roundRect">
            <a:avLst>
              <a:gd name="adj" fmla="val 5000"/>
            </a:avLst>
          </a:prstGeom>
          <a:solidFill>
            <a:srgbClr val="17552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7D1DC598-8D74-6E93-A72F-142314F1EB0D}"/>
              </a:ext>
            </a:extLst>
          </p:cNvPr>
          <p:cNvSpPr txBox="1"/>
          <p:nvPr/>
        </p:nvSpPr>
        <p:spPr>
          <a:xfrm>
            <a:off x="660400" y="2666999"/>
            <a:ext cx="7823200" cy="279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PT" sz="1400" b="1">
                <a:solidFill>
                  <a:srgbClr val="8CC63F"/>
                </a:solidFill>
                <a:latin typeface="Calibri" panose="020F0502020204030204" pitchFamily="34" charset="0"/>
              </a:rPr>
              <a:t>Quem respondeu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3A7CCF1-AFD3-BEC2-3C4B-5085DB4ED192}"/>
              </a:ext>
            </a:extLst>
          </p:cNvPr>
          <p:cNvSpPr txBox="1"/>
          <p:nvPr/>
        </p:nvSpPr>
        <p:spPr>
          <a:xfrm>
            <a:off x="660400" y="3047999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PT" sz="2600" b="1">
                <a:solidFill>
                  <a:srgbClr val="FFFFFF"/>
                </a:solidFill>
                <a:latin typeface="Arial" panose="020B0604020202020204" pitchFamily="34" charset="0"/>
              </a:rPr>
              <a:t>69 %</a:t>
            </a:r>
          </a:p>
          <a:p>
            <a:r>
              <a:rPr lang="pt-PT" sz="1300">
                <a:solidFill>
                  <a:srgbClr val="FFFFFF"/>
                </a:solidFill>
                <a:latin typeface="Calibri" panose="020F0502020204030204" pitchFamily="34" charset="0"/>
              </a:rPr>
              <a:t>têm 45 a 64 anos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1F31E2B-95A0-DB9C-038F-D6340A043B2B}"/>
              </a:ext>
            </a:extLst>
          </p:cNvPr>
          <p:cNvSpPr txBox="1"/>
          <p:nvPr/>
        </p:nvSpPr>
        <p:spPr>
          <a:xfrm>
            <a:off x="2641600" y="3047999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PT" sz="2600" b="1">
                <a:solidFill>
                  <a:srgbClr val="FFFFFF"/>
                </a:solidFill>
                <a:latin typeface="Arial" panose="020B0604020202020204" pitchFamily="34" charset="0"/>
              </a:rPr>
              <a:t>65 %</a:t>
            </a:r>
          </a:p>
          <a:p>
            <a:r>
              <a:rPr lang="pt-PT" sz="1300">
                <a:solidFill>
                  <a:srgbClr val="FFFFFF"/>
                </a:solidFill>
                <a:latin typeface="Calibri" panose="020F0502020204030204" pitchFamily="34" charset="0"/>
              </a:rPr>
              <a:t>são mulheres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E386AB-17EE-3360-1377-6D7B953275F6}"/>
              </a:ext>
            </a:extLst>
          </p:cNvPr>
          <p:cNvSpPr txBox="1"/>
          <p:nvPr/>
        </p:nvSpPr>
        <p:spPr>
          <a:xfrm>
            <a:off x="4622800" y="3047999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PT" sz="2600" b="1">
                <a:solidFill>
                  <a:srgbClr val="FFFFFF"/>
                </a:solidFill>
                <a:latin typeface="Arial" panose="020B0604020202020204" pitchFamily="34" charset="0"/>
              </a:rPr>
              <a:t>65 %</a:t>
            </a:r>
          </a:p>
          <a:p>
            <a:r>
              <a:rPr lang="pt-PT" sz="1300">
                <a:solidFill>
                  <a:srgbClr val="FFFFFF"/>
                </a:solidFill>
                <a:latin typeface="Calibri" panose="020F0502020204030204" pitchFamily="34" charset="0"/>
              </a:rPr>
              <a:t>vivem em zona urbana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3A02518-6E2C-246D-4251-B8A8C80318E5}"/>
              </a:ext>
            </a:extLst>
          </p:cNvPr>
          <p:cNvSpPr txBox="1"/>
          <p:nvPr/>
        </p:nvSpPr>
        <p:spPr>
          <a:xfrm>
            <a:off x="6604000" y="3047999"/>
            <a:ext cx="1828800" cy="1066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r>
              <a:rPr lang="pt-PT" sz="2600" b="1">
                <a:solidFill>
                  <a:srgbClr val="FFFFFF"/>
                </a:solidFill>
                <a:latin typeface="Arial" panose="020B0604020202020204" pitchFamily="34" charset="0"/>
              </a:rPr>
              <a:t>92 %</a:t>
            </a:r>
          </a:p>
          <a:p>
            <a:r>
              <a:rPr lang="pt-PT" sz="1300">
                <a:solidFill>
                  <a:srgbClr val="FFFFFF"/>
                </a:solidFill>
                <a:latin typeface="Calibri" panose="020F0502020204030204" pitchFamily="34" charset="0"/>
              </a:rPr>
              <a:t>decidem as compras da casa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F42EBA4-8D30-3E0D-4815-BB19087C8270}"/>
              </a:ext>
            </a:extLst>
          </p:cNvPr>
          <p:cNvSpPr txBox="1"/>
          <p:nvPr/>
        </p:nvSpPr>
        <p:spPr>
          <a:xfrm>
            <a:off x="457200" y="4191000"/>
            <a:ext cx="7683500" cy="2286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1100" i="1">
                <a:solidFill>
                  <a:srgbClr val="5B6B60"/>
                </a:solidFill>
                <a:latin typeface="Calibri" panose="020F0502020204030204" pitchFamily="34" charset="0"/>
              </a:rPr>
              <a:t>Amostra por conveniência, não representativa da população. As respostas em bruto seguem no Excel.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resultados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8</a:t>
            </a:fld>
            <a:endParaRPr lang="en-US"/>
          </a:p>
        </p:txBody>
      </p:sp>
      <p:sp>
        <p:nvSpPr>
          <p:cNvPr id="3" name="Resultado 1">
            <a:extLst>
              <a:ext uri="{FF2B5EF4-FFF2-40B4-BE49-F238E27FC236}">
                <a16:creationId xmlns:a16="http://schemas.microsoft.com/office/drawing/2014/main" id="{ECB0EE73-1CB6-E423-707B-9ADFF784AF2B}"/>
              </a:ext>
            </a:extLst>
          </p:cNvPr>
          <p:cNvSpPr/>
          <p:nvPr/>
        </p:nvSpPr>
        <p:spPr>
          <a:xfrm>
            <a:off x="457200" y="1092200"/>
            <a:ext cx="2616200" cy="1625600"/>
          </a:xfrm>
          <a:prstGeom prst="roundRect">
            <a:avLst>
              <a:gd name="adj" fmla="val 4688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82840EF-A3DF-BA1B-8A52-D34679F5B325}"/>
              </a:ext>
            </a:extLst>
          </p:cNvPr>
          <p:cNvSpPr txBox="1"/>
          <p:nvPr/>
        </p:nvSpPr>
        <p:spPr>
          <a:xfrm>
            <a:off x="635000" y="1244599"/>
            <a:ext cx="2260600" cy="1320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pt-PT" sz="2800" b="1">
                <a:solidFill>
                  <a:srgbClr val="1E8A44"/>
                </a:solidFill>
                <a:latin typeface="Arial" panose="020B0604020202020204" pitchFamily="34" charset="0"/>
              </a:rPr>
              <a:t>53 %</a:t>
            </a:r>
          </a:p>
          <a:p>
            <a:pPr>
              <a:spcAft>
                <a:spcPts val="300"/>
              </a:spcAft>
            </a:pPr>
            <a:r>
              <a:rPr lang="pt-PT" sz="1400" b="1">
                <a:solidFill>
                  <a:srgbClr val="1F2A24"/>
                </a:solidFill>
                <a:latin typeface="Calibri" panose="020F0502020204030204" pitchFamily="34" charset="0"/>
              </a:rPr>
              <a:t>interessados na app</a:t>
            </a:r>
          </a:p>
          <a:p>
            <a:pPr>
              <a:spcAft>
                <a:spcPts val="300"/>
              </a:spcAft>
            </a:pPr>
            <a:r>
              <a:rPr lang="pt-PT" sz="1200">
                <a:solidFill>
                  <a:srgbClr val="1F2A24"/>
                </a:solidFill>
                <a:latin typeface="Calibri" panose="020F0502020204030204" pitchFamily="34" charset="0"/>
              </a:rPr>
              <a:t>Interesse médio 3,45 em 5; 16 % são entusiastas</a:t>
            </a:r>
          </a:p>
        </p:txBody>
      </p:sp>
      <p:sp>
        <p:nvSpPr>
          <p:cNvPr id="5" name="Resultado 2">
            <a:extLst>
              <a:ext uri="{FF2B5EF4-FFF2-40B4-BE49-F238E27FC236}">
                <a16:creationId xmlns:a16="http://schemas.microsoft.com/office/drawing/2014/main" id="{019B6C0F-0D9A-F52F-F717-0197C9F42CCE}"/>
              </a:ext>
            </a:extLst>
          </p:cNvPr>
          <p:cNvSpPr/>
          <p:nvPr/>
        </p:nvSpPr>
        <p:spPr>
          <a:xfrm>
            <a:off x="3268091" y="1092200"/>
            <a:ext cx="2616200" cy="1625600"/>
          </a:xfrm>
          <a:prstGeom prst="roundRect">
            <a:avLst>
              <a:gd name="adj" fmla="val 4688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6C98292-2C2C-8451-E8B3-20D75AF341F5}"/>
              </a:ext>
            </a:extLst>
          </p:cNvPr>
          <p:cNvSpPr txBox="1"/>
          <p:nvPr/>
        </p:nvSpPr>
        <p:spPr>
          <a:xfrm>
            <a:off x="3445891" y="1244599"/>
            <a:ext cx="2260600" cy="1320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pt-PT" sz="2800" b="1">
                <a:solidFill>
                  <a:srgbClr val="1E8A44"/>
                </a:solidFill>
                <a:latin typeface="Arial" panose="020B0604020202020204" pitchFamily="34" charset="0"/>
              </a:rPr>
              <a:t>84 %</a:t>
            </a:r>
          </a:p>
          <a:p>
            <a:pPr>
              <a:spcAft>
                <a:spcPts val="300"/>
              </a:spcAft>
            </a:pPr>
            <a:r>
              <a:rPr lang="pt-PT" sz="1400" b="1">
                <a:solidFill>
                  <a:srgbClr val="1F2A24"/>
                </a:solidFill>
                <a:latin typeface="Calibri" panose="020F0502020204030204" pitchFamily="34" charset="0"/>
              </a:rPr>
              <a:t>valorizam a frescura</a:t>
            </a:r>
          </a:p>
          <a:p>
            <a:pPr>
              <a:spcAft>
                <a:spcPts val="300"/>
              </a:spcAft>
            </a:pPr>
            <a:r>
              <a:rPr lang="pt-PT" sz="1200">
                <a:solidFill>
                  <a:srgbClr val="1F2A24"/>
                </a:solidFill>
                <a:latin typeface="Calibri" panose="020F0502020204030204" pitchFamily="34" charset="0"/>
              </a:rPr>
              <a:t>1.º critério de compra; saber quem produziu é o último</a:t>
            </a:r>
          </a:p>
        </p:txBody>
      </p:sp>
      <p:sp>
        <p:nvSpPr>
          <p:cNvPr id="7" name="Resultado 3">
            <a:extLst>
              <a:ext uri="{FF2B5EF4-FFF2-40B4-BE49-F238E27FC236}">
                <a16:creationId xmlns:a16="http://schemas.microsoft.com/office/drawing/2014/main" id="{A87230BD-D0F6-D088-3178-6D69BC83D50D}"/>
              </a:ext>
            </a:extLst>
          </p:cNvPr>
          <p:cNvSpPr/>
          <p:nvPr/>
        </p:nvSpPr>
        <p:spPr>
          <a:xfrm>
            <a:off x="6078982" y="1092200"/>
            <a:ext cx="2616200" cy="1625600"/>
          </a:xfrm>
          <a:prstGeom prst="roundRect">
            <a:avLst>
              <a:gd name="adj" fmla="val 4688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B06C9C1-A893-8C1D-0E1C-DB29CE807EBA}"/>
              </a:ext>
            </a:extLst>
          </p:cNvPr>
          <p:cNvSpPr txBox="1"/>
          <p:nvPr/>
        </p:nvSpPr>
        <p:spPr>
          <a:xfrm>
            <a:off x="6256782" y="1244599"/>
            <a:ext cx="2260600" cy="1320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pt-PT" sz="2800" b="1">
                <a:solidFill>
                  <a:srgbClr val="1E8A44"/>
                </a:solidFill>
                <a:latin typeface="Arial" panose="020B0604020202020204" pitchFamily="34" charset="0"/>
              </a:rPr>
              <a:t>33 %</a:t>
            </a:r>
          </a:p>
          <a:p>
            <a:pPr>
              <a:spcAft>
                <a:spcPts val="300"/>
              </a:spcAft>
            </a:pPr>
            <a:r>
              <a:rPr lang="pt-PT" sz="1400" b="1">
                <a:solidFill>
                  <a:srgbClr val="1F2A24"/>
                </a:solidFill>
                <a:latin typeface="Calibri" panose="020F0502020204030204" pitchFamily="34" charset="0"/>
              </a:rPr>
              <a:t>aceitam mais de 10 min</a:t>
            </a:r>
          </a:p>
          <a:p>
            <a:pPr>
              <a:spcAft>
                <a:spcPts val="300"/>
              </a:spcAft>
            </a:pPr>
            <a:r>
              <a:rPr lang="pt-PT" sz="1200">
                <a:solidFill>
                  <a:srgbClr val="1F2A24"/>
                </a:solidFill>
                <a:latin typeface="Calibri" panose="020F0502020204030204" pitchFamily="34" charset="0"/>
              </a:rPr>
              <a:t>44 % preferem um ponto de recolha à casa do produtor</a:t>
            </a:r>
          </a:p>
        </p:txBody>
      </p:sp>
      <p:sp>
        <p:nvSpPr>
          <p:cNvPr id="9" name="Resultado 4">
            <a:extLst>
              <a:ext uri="{FF2B5EF4-FFF2-40B4-BE49-F238E27FC236}">
                <a16:creationId xmlns:a16="http://schemas.microsoft.com/office/drawing/2014/main" id="{B7E4ECB4-339F-C481-4EA4-B33B3B456468}"/>
              </a:ext>
            </a:extLst>
          </p:cNvPr>
          <p:cNvSpPr/>
          <p:nvPr/>
        </p:nvSpPr>
        <p:spPr>
          <a:xfrm>
            <a:off x="457200" y="2870200"/>
            <a:ext cx="2616200" cy="1625600"/>
          </a:xfrm>
          <a:prstGeom prst="roundRect">
            <a:avLst>
              <a:gd name="adj" fmla="val 4688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5615DAD-9250-D605-92EB-B48FDC9639AB}"/>
              </a:ext>
            </a:extLst>
          </p:cNvPr>
          <p:cNvSpPr txBox="1"/>
          <p:nvPr/>
        </p:nvSpPr>
        <p:spPr>
          <a:xfrm>
            <a:off x="635000" y="3022599"/>
            <a:ext cx="2260600" cy="1320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pt-PT" sz="2800" b="1">
                <a:solidFill>
                  <a:srgbClr val="1E8A44"/>
                </a:solidFill>
                <a:latin typeface="Arial" panose="020B0604020202020204" pitchFamily="34" charset="0"/>
              </a:rPr>
              <a:t>64 %</a:t>
            </a:r>
          </a:p>
          <a:p>
            <a:pPr>
              <a:spcAft>
                <a:spcPts val="300"/>
              </a:spcAft>
            </a:pPr>
            <a:r>
              <a:rPr lang="pt-PT" sz="1400" b="1">
                <a:solidFill>
                  <a:srgbClr val="1F2A24"/>
                </a:solidFill>
                <a:latin typeface="Calibri" panose="020F0502020204030204" pitchFamily="34" charset="0"/>
              </a:rPr>
              <a:t>aceitam a taxa de 1 €</a:t>
            </a:r>
          </a:p>
          <a:p>
            <a:pPr>
              <a:spcAft>
                <a:spcPts val="300"/>
              </a:spcAft>
            </a:pPr>
            <a:r>
              <a:rPr lang="pt-PT" sz="1200">
                <a:solidFill>
                  <a:srgbClr val="1F2A24"/>
                </a:solidFill>
                <a:latin typeface="Calibri" panose="020F0502020204030204" pitchFamily="34" charset="0"/>
              </a:rPr>
              <a:t>Só 5 % a apontam como motivo para não usar</a:t>
            </a:r>
          </a:p>
        </p:txBody>
      </p:sp>
      <p:sp>
        <p:nvSpPr>
          <p:cNvPr id="11" name="Resultado 5">
            <a:extLst>
              <a:ext uri="{FF2B5EF4-FFF2-40B4-BE49-F238E27FC236}">
                <a16:creationId xmlns:a16="http://schemas.microsoft.com/office/drawing/2014/main" id="{82056729-A3D6-2173-283D-CCF5651D311F}"/>
              </a:ext>
            </a:extLst>
          </p:cNvPr>
          <p:cNvSpPr/>
          <p:nvPr/>
        </p:nvSpPr>
        <p:spPr>
          <a:xfrm>
            <a:off x="3268091" y="2870200"/>
            <a:ext cx="2616200" cy="1625600"/>
          </a:xfrm>
          <a:prstGeom prst="roundRect">
            <a:avLst>
              <a:gd name="adj" fmla="val 4688"/>
            </a:avLst>
          </a:prstGeom>
          <a:solidFill>
            <a:srgbClr val="F6D7C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BF596D4-C2C2-A695-48D0-64DE9A0A901B}"/>
              </a:ext>
            </a:extLst>
          </p:cNvPr>
          <p:cNvSpPr txBox="1"/>
          <p:nvPr/>
        </p:nvSpPr>
        <p:spPr>
          <a:xfrm>
            <a:off x="3445891" y="3022599"/>
            <a:ext cx="2260600" cy="1320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pt-PT" sz="2800" b="1">
                <a:solidFill>
                  <a:srgbClr val="E2672B"/>
                </a:solidFill>
                <a:latin typeface="Arial" panose="020B0604020202020204" pitchFamily="34" charset="0"/>
              </a:rPr>
              <a:t>52 %</a:t>
            </a:r>
          </a:p>
          <a:p>
            <a:pPr>
              <a:spcAft>
                <a:spcPts val="300"/>
              </a:spcAft>
            </a:pPr>
            <a:r>
              <a:rPr lang="pt-PT" sz="1400" b="1">
                <a:solidFill>
                  <a:srgbClr val="1F2A24"/>
                </a:solidFill>
                <a:latin typeface="Calibri" panose="020F0502020204030204" pitchFamily="34" charset="0"/>
              </a:rPr>
              <a:t>preferem pagar na recolha</a:t>
            </a:r>
          </a:p>
          <a:p>
            <a:pPr>
              <a:spcAft>
                <a:spcPts val="300"/>
              </a:spcAft>
            </a:pPr>
            <a:r>
              <a:rPr lang="pt-PT" sz="1200">
                <a:solidFill>
                  <a:srgbClr val="1F2A24"/>
                </a:solidFill>
                <a:latin typeface="Calibri" panose="020F0502020204030204" pitchFamily="34" charset="0"/>
              </a:rPr>
              <a:t>Só 16 % na app; 54 % não confiam em pagar antes</a:t>
            </a:r>
          </a:p>
        </p:txBody>
      </p:sp>
      <p:sp>
        <p:nvSpPr>
          <p:cNvPr id="13" name="Resultado 6">
            <a:extLst>
              <a:ext uri="{FF2B5EF4-FFF2-40B4-BE49-F238E27FC236}">
                <a16:creationId xmlns:a16="http://schemas.microsoft.com/office/drawing/2014/main" id="{8BD4E254-92D7-1AEF-366E-8EAB83EDEB3E}"/>
              </a:ext>
            </a:extLst>
          </p:cNvPr>
          <p:cNvSpPr/>
          <p:nvPr/>
        </p:nvSpPr>
        <p:spPr>
          <a:xfrm>
            <a:off x="6078982" y="2870200"/>
            <a:ext cx="2616200" cy="1625600"/>
          </a:xfrm>
          <a:prstGeom prst="roundRect">
            <a:avLst>
              <a:gd name="adj" fmla="val 4688"/>
            </a:avLst>
          </a:prstGeom>
          <a:solidFill>
            <a:srgbClr val="F6D7C6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F9E8BB24-15CF-77BC-F134-E47504DE6187}"/>
              </a:ext>
            </a:extLst>
          </p:cNvPr>
          <p:cNvSpPr txBox="1"/>
          <p:nvPr/>
        </p:nvSpPr>
        <p:spPr>
          <a:xfrm>
            <a:off x="6256782" y="3022599"/>
            <a:ext cx="2260600" cy="13208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300"/>
              </a:spcAft>
            </a:pPr>
            <a:r>
              <a:rPr lang="pt-PT" sz="2800" b="1">
                <a:solidFill>
                  <a:srgbClr val="E2672B"/>
                </a:solidFill>
                <a:latin typeface="Arial" panose="020B0604020202020204" pitchFamily="34" charset="0"/>
              </a:rPr>
              <a:t>60 %</a:t>
            </a:r>
          </a:p>
          <a:p>
            <a:pPr>
              <a:spcAft>
                <a:spcPts val="300"/>
              </a:spcAft>
            </a:pPr>
            <a:r>
              <a:rPr lang="pt-PT" sz="1400" b="1">
                <a:solidFill>
                  <a:srgbClr val="1F2A24"/>
                </a:solidFill>
                <a:latin typeface="Calibri" panose="020F0502020204030204" pitchFamily="34" charset="0"/>
              </a:rPr>
              <a:t>compram noutro lado se faltar</a:t>
            </a:r>
          </a:p>
          <a:p>
            <a:pPr>
              <a:spcAft>
                <a:spcPts val="300"/>
              </a:spcAft>
            </a:pPr>
            <a:r>
              <a:rPr lang="pt-PT" sz="1200">
                <a:solidFill>
                  <a:srgbClr val="1F2A24"/>
                </a:solidFill>
                <a:latin typeface="Calibri" panose="020F0502020204030204" pitchFamily="34" charset="0"/>
              </a:rPr>
              <a:t>Sazonalidade aceite: a app é complemento, não substituto</a:t>
            </a:r>
          </a:p>
        </p:txBody>
      </p:sp>
    </p:spTree>
    <p:extLst>
      <p:ext uri="{BB962C8B-B14F-4D97-AF65-F5344CB8AC3E}">
        <p14:creationId xmlns:p14="http://schemas.microsoft.com/office/powerpoint/2010/main" val="154099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000" b="1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Hipóteses e segmento prioritário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9</a:t>
            </a:fld>
            <a:endParaRPr lang="en-US"/>
          </a:p>
        </p:txBody>
      </p:sp>
      <p:sp>
        <p:nvSpPr>
          <p:cNvPr id="3" name="Hipótese 1">
            <a:extLst>
              <a:ext uri="{FF2B5EF4-FFF2-40B4-BE49-F238E27FC236}">
                <a16:creationId xmlns:a16="http://schemas.microsoft.com/office/drawing/2014/main" id="{7E857CB2-EB10-5B9A-CDE6-A2DBE266EA1F}"/>
              </a:ext>
            </a:extLst>
          </p:cNvPr>
          <p:cNvSpPr/>
          <p:nvPr/>
        </p:nvSpPr>
        <p:spPr>
          <a:xfrm>
            <a:off x="457200" y="1092200"/>
            <a:ext cx="4876800" cy="508000"/>
          </a:xfrm>
          <a:prstGeom prst="roundRect">
            <a:avLst>
              <a:gd name="adj" fmla="val 8000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C475CCB-9718-0BEE-0140-91FD3C6806F0}"/>
              </a:ext>
            </a:extLst>
          </p:cNvPr>
          <p:cNvSpPr txBox="1"/>
          <p:nvPr/>
        </p:nvSpPr>
        <p:spPr>
          <a:xfrm>
            <a:off x="609600" y="1092199"/>
            <a:ext cx="4318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1400" b="1">
                <a:solidFill>
                  <a:srgbClr val="1E8A44"/>
                </a:solidFill>
                <a:latin typeface="Arial" panose="020B0604020202020204" pitchFamily="34" charset="0"/>
              </a:rPr>
              <a:t>H1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5482283-85A5-A5C5-47EA-695AD38D6CDA}"/>
              </a:ext>
            </a:extLst>
          </p:cNvPr>
          <p:cNvSpPr txBox="1"/>
          <p:nvPr/>
        </p:nvSpPr>
        <p:spPr>
          <a:xfrm>
            <a:off x="1066800" y="1092199"/>
            <a:ext cx="2921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1200">
                <a:solidFill>
                  <a:srgbClr val="1F2A24"/>
                </a:solidFill>
                <a:latin typeface="Calibri" panose="020F0502020204030204" pitchFamily="34" charset="0"/>
              </a:rPr>
              <a:t>Interesse médio acima de 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8FC25417-3578-EC76-3014-44CFDA41BA9F}"/>
              </a:ext>
            </a:extLst>
          </p:cNvPr>
          <p:cNvSpPr txBox="1"/>
          <p:nvPr/>
        </p:nvSpPr>
        <p:spPr>
          <a:xfrm>
            <a:off x="4038600" y="1092199"/>
            <a:ext cx="1143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pt-PT" sz="1200" b="1">
                <a:solidFill>
                  <a:srgbClr val="1E8A44"/>
                </a:solidFill>
                <a:latin typeface="Calibri" panose="020F0502020204030204" pitchFamily="34" charset="0"/>
              </a:rPr>
              <a:t>Confirmada</a:t>
            </a:r>
          </a:p>
        </p:txBody>
      </p:sp>
      <p:sp>
        <p:nvSpPr>
          <p:cNvPr id="7" name="Hipótese 2">
            <a:extLst>
              <a:ext uri="{FF2B5EF4-FFF2-40B4-BE49-F238E27FC236}">
                <a16:creationId xmlns:a16="http://schemas.microsoft.com/office/drawing/2014/main" id="{9C2CCB11-D7D0-10A8-64E6-514C99B517E4}"/>
              </a:ext>
            </a:extLst>
          </p:cNvPr>
          <p:cNvSpPr/>
          <p:nvPr/>
        </p:nvSpPr>
        <p:spPr>
          <a:xfrm>
            <a:off x="457200" y="1701800"/>
            <a:ext cx="4876800" cy="508000"/>
          </a:xfrm>
          <a:prstGeom prst="roundRect">
            <a:avLst>
              <a:gd name="adj" fmla="val 8000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557B983-5C7F-E66C-94BC-265E6F6466D2}"/>
              </a:ext>
            </a:extLst>
          </p:cNvPr>
          <p:cNvSpPr txBox="1"/>
          <p:nvPr/>
        </p:nvSpPr>
        <p:spPr>
          <a:xfrm>
            <a:off x="609600" y="1701799"/>
            <a:ext cx="4318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1400" b="1">
                <a:solidFill>
                  <a:srgbClr val="1E8A44"/>
                </a:solidFill>
                <a:latin typeface="Arial" panose="020B0604020202020204" pitchFamily="34" charset="0"/>
              </a:rPr>
              <a:t>H2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1608F02-2410-2176-C5EA-57D27B5FE187}"/>
              </a:ext>
            </a:extLst>
          </p:cNvPr>
          <p:cNvSpPr txBox="1"/>
          <p:nvPr/>
        </p:nvSpPr>
        <p:spPr>
          <a:xfrm>
            <a:off x="1066800" y="1701799"/>
            <a:ext cx="2921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1200">
                <a:solidFill>
                  <a:srgbClr val="1F2A24"/>
                </a:solidFill>
                <a:latin typeface="Calibri" panose="020F0502020204030204" pitchFamily="34" charset="0"/>
              </a:rPr>
              <a:t>Interesse difere entre zona urbana e rural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E37A75A-DECA-FED6-02CA-A9CF6B894D0F}"/>
              </a:ext>
            </a:extLst>
          </p:cNvPr>
          <p:cNvSpPr txBox="1"/>
          <p:nvPr/>
        </p:nvSpPr>
        <p:spPr>
          <a:xfrm>
            <a:off x="4038600" y="1701799"/>
            <a:ext cx="1143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pt-PT" sz="1200" b="1">
                <a:solidFill>
                  <a:srgbClr val="5B6B60"/>
                </a:solidFill>
                <a:latin typeface="Calibri" panose="020F0502020204030204" pitchFamily="34" charset="0"/>
              </a:rPr>
              <a:t>Não confirmada</a:t>
            </a:r>
          </a:p>
        </p:txBody>
      </p:sp>
      <p:sp>
        <p:nvSpPr>
          <p:cNvPr id="11" name="Hipótese 3">
            <a:extLst>
              <a:ext uri="{FF2B5EF4-FFF2-40B4-BE49-F238E27FC236}">
                <a16:creationId xmlns:a16="http://schemas.microsoft.com/office/drawing/2014/main" id="{7D7444DD-E10F-D544-D638-0EDEE3FBF8A5}"/>
              </a:ext>
            </a:extLst>
          </p:cNvPr>
          <p:cNvSpPr/>
          <p:nvPr/>
        </p:nvSpPr>
        <p:spPr>
          <a:xfrm>
            <a:off x="457200" y="2311400"/>
            <a:ext cx="4876800" cy="508000"/>
          </a:xfrm>
          <a:prstGeom prst="roundRect">
            <a:avLst>
              <a:gd name="adj" fmla="val 8000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026D7F2-4B98-126F-A4C2-F36C9F4F8B6C}"/>
              </a:ext>
            </a:extLst>
          </p:cNvPr>
          <p:cNvSpPr txBox="1"/>
          <p:nvPr/>
        </p:nvSpPr>
        <p:spPr>
          <a:xfrm>
            <a:off x="609600" y="2311399"/>
            <a:ext cx="4318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1400" b="1">
                <a:solidFill>
                  <a:srgbClr val="1E8A44"/>
                </a:solidFill>
                <a:latin typeface="Arial" panose="020B0604020202020204" pitchFamily="34" charset="0"/>
              </a:rPr>
              <a:t>H3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D87D871E-4425-BCE5-C6D2-7C2A0CD81DAB}"/>
              </a:ext>
            </a:extLst>
          </p:cNvPr>
          <p:cNvSpPr txBox="1"/>
          <p:nvPr/>
        </p:nvSpPr>
        <p:spPr>
          <a:xfrm>
            <a:off x="1066800" y="2311399"/>
            <a:ext cx="2921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1200">
                <a:solidFill>
                  <a:srgbClr val="1F2A24"/>
                </a:solidFill>
                <a:latin typeface="Calibri" panose="020F0502020204030204" pitchFamily="34" charset="0"/>
              </a:rPr>
              <a:t>Quem já compra a produtores tem mais interesse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8EA154A-483F-1705-9B2C-FE2A3236CEDA}"/>
              </a:ext>
            </a:extLst>
          </p:cNvPr>
          <p:cNvSpPr txBox="1"/>
          <p:nvPr/>
        </p:nvSpPr>
        <p:spPr>
          <a:xfrm>
            <a:off x="4038600" y="2311399"/>
            <a:ext cx="1143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pt-PT" sz="1200" b="1">
                <a:solidFill>
                  <a:srgbClr val="5B6B60"/>
                </a:solidFill>
                <a:latin typeface="Calibri" panose="020F0502020204030204" pitchFamily="34" charset="0"/>
              </a:rPr>
              <a:t>Não confirmada</a:t>
            </a:r>
          </a:p>
        </p:txBody>
      </p:sp>
      <p:sp>
        <p:nvSpPr>
          <p:cNvPr id="15" name="Hipótese 4">
            <a:extLst>
              <a:ext uri="{FF2B5EF4-FFF2-40B4-BE49-F238E27FC236}">
                <a16:creationId xmlns:a16="http://schemas.microsoft.com/office/drawing/2014/main" id="{FCDD9499-16A7-8402-7243-5D3F8D5D748C}"/>
              </a:ext>
            </a:extLst>
          </p:cNvPr>
          <p:cNvSpPr/>
          <p:nvPr/>
        </p:nvSpPr>
        <p:spPr>
          <a:xfrm>
            <a:off x="457200" y="2921000"/>
            <a:ext cx="4876800" cy="508000"/>
          </a:xfrm>
          <a:prstGeom prst="roundRect">
            <a:avLst>
              <a:gd name="adj" fmla="val 8000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E56DAEB-F854-D530-9089-2ACD583CBD76}"/>
              </a:ext>
            </a:extLst>
          </p:cNvPr>
          <p:cNvSpPr txBox="1"/>
          <p:nvPr/>
        </p:nvSpPr>
        <p:spPr>
          <a:xfrm>
            <a:off x="609600" y="2920999"/>
            <a:ext cx="4318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1400" b="1">
                <a:solidFill>
                  <a:srgbClr val="1E8A44"/>
                </a:solidFill>
                <a:latin typeface="Arial" panose="020B0604020202020204" pitchFamily="34" charset="0"/>
              </a:rPr>
              <a:t>H4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A8FA62CA-249E-2BA5-E0DF-5CF7D20F5771}"/>
              </a:ext>
            </a:extLst>
          </p:cNvPr>
          <p:cNvSpPr txBox="1"/>
          <p:nvPr/>
        </p:nvSpPr>
        <p:spPr>
          <a:xfrm>
            <a:off x="1066800" y="2920999"/>
            <a:ext cx="2921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1200">
                <a:solidFill>
                  <a:srgbClr val="1F2A24"/>
                </a:solidFill>
                <a:latin typeface="Calibri" panose="020F0502020204030204" pitchFamily="34" charset="0"/>
              </a:rPr>
              <a:t>Quem tem horta tem menos interesse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4BD43B18-A90B-9DBD-7FC0-D27011B96D41}"/>
              </a:ext>
            </a:extLst>
          </p:cNvPr>
          <p:cNvSpPr txBox="1"/>
          <p:nvPr/>
        </p:nvSpPr>
        <p:spPr>
          <a:xfrm>
            <a:off x="4038600" y="2920999"/>
            <a:ext cx="1143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pt-PT" sz="1200" b="1">
                <a:solidFill>
                  <a:srgbClr val="5B6B60"/>
                </a:solidFill>
                <a:latin typeface="Calibri" panose="020F0502020204030204" pitchFamily="34" charset="0"/>
              </a:rPr>
              <a:t>Quase (p = 0,052)</a:t>
            </a:r>
          </a:p>
        </p:txBody>
      </p:sp>
      <p:sp>
        <p:nvSpPr>
          <p:cNvPr id="19" name="Hipótese 5">
            <a:extLst>
              <a:ext uri="{FF2B5EF4-FFF2-40B4-BE49-F238E27FC236}">
                <a16:creationId xmlns:a16="http://schemas.microsoft.com/office/drawing/2014/main" id="{537FE840-E34D-3C2C-601B-99FE909EFBD5}"/>
              </a:ext>
            </a:extLst>
          </p:cNvPr>
          <p:cNvSpPr/>
          <p:nvPr/>
        </p:nvSpPr>
        <p:spPr>
          <a:xfrm>
            <a:off x="457200" y="3530600"/>
            <a:ext cx="4876800" cy="508000"/>
          </a:xfrm>
          <a:prstGeom prst="roundRect">
            <a:avLst>
              <a:gd name="adj" fmla="val 8000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8E17198-C7F4-864B-E3F2-FDADBDD27B85}"/>
              </a:ext>
            </a:extLst>
          </p:cNvPr>
          <p:cNvSpPr txBox="1"/>
          <p:nvPr/>
        </p:nvSpPr>
        <p:spPr>
          <a:xfrm>
            <a:off x="609600" y="3530599"/>
            <a:ext cx="4318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1400" b="1">
                <a:solidFill>
                  <a:srgbClr val="1E8A44"/>
                </a:solidFill>
                <a:latin typeface="Arial" panose="020B0604020202020204" pitchFamily="34" charset="0"/>
              </a:rPr>
              <a:t>H5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8C2E39B-B1E1-2EAF-BD5A-C6FB3D81CA09}"/>
              </a:ext>
            </a:extLst>
          </p:cNvPr>
          <p:cNvSpPr txBox="1"/>
          <p:nvPr/>
        </p:nvSpPr>
        <p:spPr>
          <a:xfrm>
            <a:off x="1066800" y="3530599"/>
            <a:ext cx="2921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1200">
                <a:solidFill>
                  <a:srgbClr val="1F2A24"/>
                </a:solidFill>
                <a:latin typeface="Calibri" panose="020F0502020204030204" pitchFamily="34" charset="0"/>
              </a:rPr>
              <a:t>Metade aceita deslocar-se mais de 10 min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4CFE0055-D8F0-6C10-9ED0-DA165712031C}"/>
              </a:ext>
            </a:extLst>
          </p:cNvPr>
          <p:cNvSpPr txBox="1"/>
          <p:nvPr/>
        </p:nvSpPr>
        <p:spPr>
          <a:xfrm>
            <a:off x="4038600" y="3530599"/>
            <a:ext cx="1143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pt-PT" sz="1200" b="1">
                <a:solidFill>
                  <a:srgbClr val="E2672B"/>
                </a:solidFill>
                <a:latin typeface="Calibri" panose="020F0502020204030204" pitchFamily="34" charset="0"/>
              </a:rPr>
              <a:t>Rejeitada</a:t>
            </a:r>
          </a:p>
        </p:txBody>
      </p:sp>
      <p:sp>
        <p:nvSpPr>
          <p:cNvPr id="23" name="Hipótese 6">
            <a:extLst>
              <a:ext uri="{FF2B5EF4-FFF2-40B4-BE49-F238E27FC236}">
                <a16:creationId xmlns:a16="http://schemas.microsoft.com/office/drawing/2014/main" id="{20132588-75FD-63A9-20C9-FF8B7A1E3E57}"/>
              </a:ext>
            </a:extLst>
          </p:cNvPr>
          <p:cNvSpPr/>
          <p:nvPr/>
        </p:nvSpPr>
        <p:spPr>
          <a:xfrm>
            <a:off x="457200" y="4140200"/>
            <a:ext cx="4876800" cy="508000"/>
          </a:xfrm>
          <a:prstGeom prst="roundRect">
            <a:avLst>
              <a:gd name="adj" fmla="val 8000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0F9FD1B-0EA4-880A-7158-D9646F615119}"/>
              </a:ext>
            </a:extLst>
          </p:cNvPr>
          <p:cNvSpPr txBox="1"/>
          <p:nvPr/>
        </p:nvSpPr>
        <p:spPr>
          <a:xfrm>
            <a:off x="609600" y="4140199"/>
            <a:ext cx="4318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1400" b="1">
                <a:solidFill>
                  <a:srgbClr val="1E8A44"/>
                </a:solidFill>
                <a:latin typeface="Arial" panose="020B0604020202020204" pitchFamily="34" charset="0"/>
              </a:rPr>
              <a:t>H6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B31560B-7BD9-B3BD-27D8-2C920CEEF479}"/>
              </a:ext>
            </a:extLst>
          </p:cNvPr>
          <p:cNvSpPr txBox="1"/>
          <p:nvPr/>
        </p:nvSpPr>
        <p:spPr>
          <a:xfrm>
            <a:off x="1066800" y="4140199"/>
            <a:ext cx="2921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pt-PT" sz="1200">
                <a:solidFill>
                  <a:srgbClr val="1F2A24"/>
                </a:solidFill>
                <a:latin typeface="Calibri" panose="020F0502020204030204" pitchFamily="34" charset="0"/>
              </a:rPr>
              <a:t>Metade aceita a taxa de 1 €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DD80FB48-156E-A5A2-2DB9-883C9B3D21EA}"/>
              </a:ext>
            </a:extLst>
          </p:cNvPr>
          <p:cNvSpPr txBox="1"/>
          <p:nvPr/>
        </p:nvSpPr>
        <p:spPr>
          <a:xfrm>
            <a:off x="4038600" y="4140199"/>
            <a:ext cx="1143000" cy="5080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 algn="r"/>
            <a:r>
              <a:rPr lang="pt-PT" sz="1200" b="1">
                <a:solidFill>
                  <a:srgbClr val="1E8A44"/>
                </a:solidFill>
                <a:latin typeface="Calibri" panose="020F0502020204030204" pitchFamily="34" charset="0"/>
              </a:rPr>
              <a:t>Confirmada</a:t>
            </a:r>
          </a:p>
        </p:txBody>
      </p:sp>
      <p:sp>
        <p:nvSpPr>
          <p:cNvPr id="28" name="Segmento">
            <a:extLst>
              <a:ext uri="{FF2B5EF4-FFF2-40B4-BE49-F238E27FC236}">
                <a16:creationId xmlns:a16="http://schemas.microsoft.com/office/drawing/2014/main" id="{2137B77A-74AF-2ED1-E77F-A0BF87F549A5}"/>
              </a:ext>
            </a:extLst>
          </p:cNvPr>
          <p:cNvSpPr/>
          <p:nvPr/>
        </p:nvSpPr>
        <p:spPr>
          <a:xfrm>
            <a:off x="5588000" y="1092200"/>
            <a:ext cx="3098800" cy="3556000"/>
          </a:xfrm>
          <a:prstGeom prst="roundRect">
            <a:avLst>
              <a:gd name="adj" fmla="val 2459"/>
            </a:avLst>
          </a:prstGeom>
          <a:solidFill>
            <a:srgbClr val="17552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6B8EC2B3-32EF-E87A-3A24-539048BC9633}"/>
              </a:ext>
            </a:extLst>
          </p:cNvPr>
          <p:cNvSpPr txBox="1"/>
          <p:nvPr/>
        </p:nvSpPr>
        <p:spPr>
          <a:xfrm>
            <a:off x="5791200" y="1269999"/>
            <a:ext cx="2692400" cy="3200400"/>
          </a:xfrm>
          <a:prstGeom prst="rect">
            <a:avLst/>
          </a:prstGeom>
          <a:noFill/>
        </p:spPr>
        <p:txBody>
          <a:bodyPr vert="horz" wrap="square" lIns="0" tIns="0" rIns="0" bIns="0" rtlCol="0" anchor="t">
            <a:noAutofit/>
          </a:bodyPr>
          <a:lstStyle/>
          <a:p>
            <a:pPr>
              <a:spcAft>
                <a:spcPts val="800"/>
              </a:spcAft>
            </a:pPr>
            <a:r>
              <a:rPr lang="pt-PT" sz="1600" b="1">
                <a:solidFill>
                  <a:srgbClr val="8CC63F"/>
                </a:solidFill>
                <a:latin typeface="Calibri" panose="020F0502020204030204" pitchFamily="34" charset="0"/>
              </a:rPr>
              <a:t>Segmento prioritário</a:t>
            </a:r>
          </a:p>
          <a:p>
            <a:pPr>
              <a:spcAft>
                <a:spcPts val="800"/>
              </a:spcAft>
            </a:pPr>
            <a:r>
              <a:rPr lang="pt-PT" sz="1400">
                <a:solidFill>
                  <a:srgbClr val="FFFFFF"/>
                </a:solidFill>
                <a:latin typeface="Calibri" panose="020F0502020204030204" pitchFamily="34" charset="0"/>
              </a:rPr>
              <a:t>Responsáveis pelas compras da casa</a:t>
            </a:r>
          </a:p>
          <a:p>
            <a:pPr>
              <a:spcAft>
                <a:spcPts val="800"/>
              </a:spcAft>
            </a:pPr>
            <a:r>
              <a:rPr lang="pt-PT" sz="1400">
                <a:solidFill>
                  <a:srgbClr val="FFFFFF"/>
                </a:solidFill>
                <a:latin typeface="Calibri" panose="020F0502020204030204" pitchFamily="34" charset="0"/>
              </a:rPr>
              <a:t>35 a 54 anos</a:t>
            </a:r>
          </a:p>
          <a:p>
            <a:pPr>
              <a:spcAft>
                <a:spcPts val="800"/>
              </a:spcAft>
            </a:pPr>
            <a:r>
              <a:rPr lang="pt-PT" sz="1400">
                <a:solidFill>
                  <a:srgbClr val="FFFFFF"/>
                </a:solidFill>
                <a:latin typeface="Calibri" panose="020F0502020204030204" pitchFamily="34" charset="0"/>
              </a:rPr>
              <a:t>Zona urbana ou suburbana</a:t>
            </a:r>
          </a:p>
          <a:p>
            <a:pPr>
              <a:spcAft>
                <a:spcPts val="800"/>
              </a:spcAft>
            </a:pPr>
            <a:r>
              <a:rPr lang="pt-PT" sz="1400">
                <a:solidFill>
                  <a:srgbClr val="FFFFFF"/>
                </a:solidFill>
                <a:latin typeface="Calibri" panose="020F0502020204030204" pitchFamily="34" charset="0"/>
              </a:rPr>
              <a:t>Sem horta própria ou de familiares</a:t>
            </a:r>
          </a:p>
          <a:p>
            <a:pPr>
              <a:spcAft>
                <a:spcPts val="800"/>
              </a:spcAft>
            </a:pPr>
            <a:r>
              <a:rPr lang="pt-PT" sz="1100" i="1">
                <a:solidFill>
                  <a:srgbClr val="FFFFFF"/>
                </a:solidFill>
                <a:latin typeface="Calibri" panose="020F0502020204030204" pitchFamily="34" charset="0"/>
              </a:rPr>
              <a:t>62 % interessados, contra 43 % de quem tem horta. Quem aceita pagar na app tem mais interesse (p = 0,014).</a:t>
            </a:r>
          </a:p>
        </p:txBody>
      </p:sp>
    </p:spTree>
    <p:extLst>
      <p:ext uri="{BB962C8B-B14F-4D97-AF65-F5344CB8AC3E}">
        <p14:creationId xmlns:p14="http://schemas.microsoft.com/office/powerpoint/2010/main" val="262794816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pt-PT" sz="3000" b="1">
                <a:solidFill>
                  <a:schemeClr val="tx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muda no negócio</a:t>
            </a: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=""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4"/>
                </a:solidFill>
              </a:defRPr>
            </a:lvl1pPr>
          </a:lstStyle>
          <a:p>
            <a:pPr algn="r"/>
            <a:fld id="{F7021451-1387-4CA6-816F-3879F97B5CBC}" type="slidenum">
              <a:rPr lang="en-US" b="0"/>
              <a:t>10</a:t>
            </a:fld>
            <a:endParaRPr lang="en-US"/>
          </a:p>
        </p:txBody>
      </p:sp>
      <p:sp>
        <p:nvSpPr>
          <p:cNvPr id="3" name="Implicação 1">
            <a:extLst>
              <a:ext uri="{FF2B5EF4-FFF2-40B4-BE49-F238E27FC236}">
                <a16:creationId xmlns:a16="http://schemas.microsoft.com/office/drawing/2014/main" id="{A8999221-401C-0B8F-5071-932927C4ACA2}"/>
              </a:ext>
            </a:extLst>
          </p:cNvPr>
          <p:cNvSpPr/>
          <p:nvPr/>
        </p:nvSpPr>
        <p:spPr>
          <a:xfrm>
            <a:off x="457200" y="1092200"/>
            <a:ext cx="4038600" cy="1041400"/>
          </a:xfrm>
          <a:prstGeom prst="roundRect">
            <a:avLst>
              <a:gd name="adj" fmla="val 7317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98DB2BE-5E56-8CDA-472B-2FBD4707DEAD}"/>
              </a:ext>
            </a:extLst>
          </p:cNvPr>
          <p:cNvSpPr txBox="1"/>
          <p:nvPr/>
        </p:nvSpPr>
        <p:spPr>
          <a:xfrm>
            <a:off x="635000" y="1219199"/>
            <a:ext cx="3683000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pt-PT" sz="1400" b="1">
                <a:solidFill>
                  <a:srgbClr val="E2672B"/>
                </a:solidFill>
                <a:latin typeface="Calibri" panose="020F0502020204030204" pitchFamily="34" charset="0"/>
              </a:rPr>
              <a:t>Comunicação</a:t>
            </a:r>
          </a:p>
          <a:p>
            <a:pPr>
              <a:spcAft>
                <a:spcPts val="200"/>
              </a:spcAft>
            </a:pPr>
            <a:r>
              <a:rPr lang="pt-PT" sz="1300">
                <a:solidFill>
                  <a:srgbClr val="1F2A24"/>
                </a:solidFill>
                <a:latin typeface="Calibri" panose="020F0502020204030204" pitchFamily="34" charset="0"/>
              </a:rPr>
              <a:t>Liderar com a frescura e o "do vizinho", não com o preço</a:t>
            </a:r>
          </a:p>
        </p:txBody>
      </p:sp>
      <p:sp>
        <p:nvSpPr>
          <p:cNvPr id="5" name="Implicação 2">
            <a:extLst>
              <a:ext uri="{FF2B5EF4-FFF2-40B4-BE49-F238E27FC236}">
                <a16:creationId xmlns:a16="http://schemas.microsoft.com/office/drawing/2014/main" id="{5F2347EF-06E9-C856-511B-653F05E3E88C}"/>
              </a:ext>
            </a:extLst>
          </p:cNvPr>
          <p:cNvSpPr/>
          <p:nvPr/>
        </p:nvSpPr>
        <p:spPr>
          <a:xfrm>
            <a:off x="4648200" y="1092200"/>
            <a:ext cx="4038600" cy="1041400"/>
          </a:xfrm>
          <a:prstGeom prst="roundRect">
            <a:avLst>
              <a:gd name="adj" fmla="val 7317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8B18198-600B-5E11-5E81-3B2D9CFD828C}"/>
              </a:ext>
            </a:extLst>
          </p:cNvPr>
          <p:cNvSpPr txBox="1"/>
          <p:nvPr/>
        </p:nvSpPr>
        <p:spPr>
          <a:xfrm>
            <a:off x="4826000" y="1219199"/>
            <a:ext cx="3683000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pt-PT" sz="1400" b="1">
                <a:solidFill>
                  <a:srgbClr val="E2672B"/>
                </a:solidFill>
                <a:latin typeface="Calibri" panose="020F0502020204030204" pitchFamily="34" charset="0"/>
              </a:rPr>
              <a:t>Raio de 10 minutos</a:t>
            </a:r>
          </a:p>
          <a:p>
            <a:pPr>
              <a:spcAft>
                <a:spcPts val="200"/>
              </a:spcAft>
            </a:pPr>
            <a:r>
              <a:rPr lang="pt-PT" sz="1300">
                <a:solidFill>
                  <a:srgbClr val="1F2A24"/>
                </a:solidFill>
                <a:latin typeface="Calibri" panose="020F0502020204030204" pitchFamily="34" charset="0"/>
              </a:rPr>
              <a:t>Cerca de 3 a 5 km de carro ou 800 m a pé</a:t>
            </a:r>
          </a:p>
        </p:txBody>
      </p:sp>
      <p:sp>
        <p:nvSpPr>
          <p:cNvPr id="7" name="Implicação 3">
            <a:extLst>
              <a:ext uri="{FF2B5EF4-FFF2-40B4-BE49-F238E27FC236}">
                <a16:creationId xmlns:a16="http://schemas.microsoft.com/office/drawing/2014/main" id="{C5858F5B-9167-B33A-284A-E02D61230CAF}"/>
              </a:ext>
            </a:extLst>
          </p:cNvPr>
          <p:cNvSpPr/>
          <p:nvPr/>
        </p:nvSpPr>
        <p:spPr>
          <a:xfrm>
            <a:off x="457200" y="2286000"/>
            <a:ext cx="4038600" cy="1041400"/>
          </a:xfrm>
          <a:prstGeom prst="roundRect">
            <a:avLst>
              <a:gd name="adj" fmla="val 7317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FE83CE5-D150-3FF6-2593-555636229C76}"/>
              </a:ext>
            </a:extLst>
          </p:cNvPr>
          <p:cNvSpPr txBox="1"/>
          <p:nvPr/>
        </p:nvSpPr>
        <p:spPr>
          <a:xfrm>
            <a:off x="635000" y="2412999"/>
            <a:ext cx="3683000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pt-PT" sz="1400" b="1">
                <a:solidFill>
                  <a:srgbClr val="E2672B"/>
                </a:solidFill>
                <a:latin typeface="Calibri" panose="020F0502020204030204" pitchFamily="34" charset="0"/>
              </a:rPr>
              <a:t>Pontos de recolha</a:t>
            </a:r>
          </a:p>
          <a:p>
            <a:pPr>
              <a:spcAft>
                <a:spcPts val="200"/>
              </a:spcAft>
            </a:pPr>
            <a:r>
              <a:rPr lang="pt-PT" sz="1300">
                <a:solidFill>
                  <a:srgbClr val="1F2A24"/>
                </a:solidFill>
                <a:latin typeface="Calibri" panose="020F0502020204030204" pitchFamily="34" charset="0"/>
              </a:rPr>
              <a:t>Prioridade a cafés e mercearias parceiros</a:t>
            </a:r>
          </a:p>
        </p:txBody>
      </p:sp>
      <p:sp>
        <p:nvSpPr>
          <p:cNvPr id="9" name="Implicação 4">
            <a:extLst>
              <a:ext uri="{FF2B5EF4-FFF2-40B4-BE49-F238E27FC236}">
                <a16:creationId xmlns:a16="http://schemas.microsoft.com/office/drawing/2014/main" id="{DFAA907B-55E7-E6C9-4C11-9814B47E6059}"/>
              </a:ext>
            </a:extLst>
          </p:cNvPr>
          <p:cNvSpPr/>
          <p:nvPr/>
        </p:nvSpPr>
        <p:spPr>
          <a:xfrm>
            <a:off x="4648200" y="2286000"/>
            <a:ext cx="4038600" cy="1041400"/>
          </a:xfrm>
          <a:prstGeom prst="roundRect">
            <a:avLst>
              <a:gd name="adj" fmla="val 7317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2804410C-60E7-E853-1C60-9AF900B34941}"/>
              </a:ext>
            </a:extLst>
          </p:cNvPr>
          <p:cNvSpPr txBox="1"/>
          <p:nvPr/>
        </p:nvSpPr>
        <p:spPr>
          <a:xfrm>
            <a:off x="4826000" y="2412999"/>
            <a:ext cx="3683000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pt-PT" sz="1400" b="1">
                <a:solidFill>
                  <a:srgbClr val="E2672B"/>
                </a:solidFill>
                <a:latin typeface="Calibri" panose="020F0502020204030204" pitchFamily="34" charset="0"/>
              </a:rPr>
              <a:t>Taxa mantém-se</a:t>
            </a:r>
          </a:p>
          <a:p>
            <a:pPr>
              <a:spcAft>
                <a:spcPts val="200"/>
              </a:spcAft>
            </a:pPr>
            <a:r>
              <a:rPr lang="pt-PT" sz="1300">
                <a:solidFill>
                  <a:srgbClr val="1F2A24"/>
                </a:solidFill>
                <a:latin typeface="Calibri" panose="020F0502020204030204" pitchFamily="34" charset="0"/>
              </a:rPr>
              <a:t>0,50 € + 5 % por compra; encomenda mínima de 5 €</a:t>
            </a:r>
          </a:p>
        </p:txBody>
      </p:sp>
      <p:sp>
        <p:nvSpPr>
          <p:cNvPr id="11" name="Implicação 5">
            <a:extLst>
              <a:ext uri="{FF2B5EF4-FFF2-40B4-BE49-F238E27FC236}">
                <a16:creationId xmlns:a16="http://schemas.microsoft.com/office/drawing/2014/main" id="{A83007FA-EE0E-77ED-911C-A934E3E4380D}"/>
              </a:ext>
            </a:extLst>
          </p:cNvPr>
          <p:cNvSpPr/>
          <p:nvPr/>
        </p:nvSpPr>
        <p:spPr>
          <a:xfrm>
            <a:off x="457200" y="3479800"/>
            <a:ext cx="4038600" cy="1041400"/>
          </a:xfrm>
          <a:prstGeom prst="roundRect">
            <a:avLst>
              <a:gd name="adj" fmla="val 7317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EA61A54-B1F0-D44B-BD37-4AB00F0489D6}"/>
              </a:ext>
            </a:extLst>
          </p:cNvPr>
          <p:cNvSpPr txBox="1"/>
          <p:nvPr/>
        </p:nvSpPr>
        <p:spPr>
          <a:xfrm>
            <a:off x="635000" y="3606799"/>
            <a:ext cx="3683000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pt-PT" sz="1400" b="1">
                <a:solidFill>
                  <a:srgbClr val="E2672B"/>
                </a:solidFill>
                <a:latin typeface="Calibri" panose="020F0502020204030204" pitchFamily="34" charset="0"/>
              </a:rPr>
              <a:t>Confiança no pagamento</a:t>
            </a:r>
          </a:p>
          <a:p>
            <a:pPr>
              <a:spcAft>
                <a:spcPts val="200"/>
              </a:spcAft>
            </a:pPr>
            <a:r>
              <a:rPr lang="pt-PT" sz="1300">
                <a:solidFill>
                  <a:srgbClr val="1F2A24"/>
                </a:solidFill>
                <a:latin typeface="Calibri" panose="020F0502020204030204" pitchFamily="34" charset="0"/>
              </a:rPr>
              <a:t>Reembolso garantido; o produtor só recebe após a recolha</a:t>
            </a:r>
          </a:p>
        </p:txBody>
      </p:sp>
      <p:sp>
        <p:nvSpPr>
          <p:cNvPr id="13" name="Implicação 6">
            <a:extLst>
              <a:ext uri="{FF2B5EF4-FFF2-40B4-BE49-F238E27FC236}">
                <a16:creationId xmlns:a16="http://schemas.microsoft.com/office/drawing/2014/main" id="{1082A239-7DAC-F328-CC73-0721E4E48DF1}"/>
              </a:ext>
            </a:extLst>
          </p:cNvPr>
          <p:cNvSpPr/>
          <p:nvPr/>
        </p:nvSpPr>
        <p:spPr>
          <a:xfrm>
            <a:off x="4648200" y="3479800"/>
            <a:ext cx="4038600" cy="1041400"/>
          </a:xfrm>
          <a:prstGeom prst="roundRect">
            <a:avLst>
              <a:gd name="adj" fmla="val 7317"/>
            </a:avLst>
          </a:prstGeom>
          <a:solidFill>
            <a:srgbClr val="EEF5EF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PT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CF324956-1436-B39A-FD82-2B8BC52C99BB}"/>
              </a:ext>
            </a:extLst>
          </p:cNvPr>
          <p:cNvSpPr txBox="1"/>
          <p:nvPr/>
        </p:nvSpPr>
        <p:spPr>
          <a:xfrm>
            <a:off x="4826000" y="3606799"/>
            <a:ext cx="3683000" cy="787400"/>
          </a:xfrm>
          <a:prstGeom prst="rect">
            <a:avLst/>
          </a:prstGeom>
          <a:noFill/>
        </p:spPr>
        <p:txBody>
          <a:bodyPr vert="horz" wrap="square" lIns="0" tIns="0" rIns="0" bIns="0" rtlCol="0" anchor="ctr">
            <a:noAutofit/>
          </a:bodyPr>
          <a:lstStyle/>
          <a:p>
            <a:pPr>
              <a:spcAft>
                <a:spcPts val="200"/>
              </a:spcAft>
            </a:pPr>
            <a:r>
              <a:rPr lang="pt-PT" sz="1400" b="1">
                <a:solidFill>
                  <a:srgbClr val="E2672B"/>
                </a:solidFill>
                <a:latin typeface="Calibri" panose="020F0502020204030204" pitchFamily="34" charset="0"/>
              </a:rPr>
              <a:t>Metas</a:t>
            </a:r>
          </a:p>
          <a:p>
            <a:pPr>
              <a:spcAft>
                <a:spcPts val="200"/>
              </a:spcAft>
            </a:pPr>
            <a:r>
              <a:rPr lang="pt-PT" sz="1300">
                <a:solidFill>
                  <a:srgbClr val="1F2A24"/>
                </a:solidFill>
                <a:latin typeface="Calibri" panose="020F0502020204030204" pitchFamily="34" charset="0"/>
              </a:rPr>
              <a:t>16 % (prudente) a 45 % (otimista) da zona de lançamento</a:t>
            </a:r>
          </a:p>
        </p:txBody>
      </p:sp>
    </p:spTree>
    <p:extLst>
      <p:ext uri="{BB962C8B-B14F-4D97-AF65-F5344CB8AC3E}">
        <p14:creationId xmlns:p14="http://schemas.microsoft.com/office/powerpoint/2010/main" val="9020162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548640" y="118872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>
              <a:buNone/>
            </a:pPr>
            <a:r>
              <a:rPr lang="en-US" sz="5400" b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37744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i="1" dirty="0">
                <a:solidFill>
                  <a:schemeClr val="accent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Questões?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rowNear">
  <a:themeElements>
    <a:clrScheme name="GrowNear">
      <a:dk1>
        <a:srgbClr val="1F2A24"/>
      </a:dk1>
      <a:lt1>
        <a:srgbClr val="FFFFFF"/>
      </a:lt1>
      <a:dk2>
        <a:srgbClr val="17552E"/>
      </a:dk2>
      <a:lt2>
        <a:srgbClr val="EEF5EF"/>
      </a:lt2>
      <a:accent1>
        <a:srgbClr val="1E8A44"/>
      </a:accent1>
      <a:accent2>
        <a:srgbClr val="E2672B"/>
      </a:accent2>
      <a:accent3>
        <a:srgbClr val="8CC63F"/>
      </a:accent3>
      <a:accent4>
        <a:srgbClr val="5B6B60"/>
      </a:accent4>
      <a:accent5>
        <a:srgbClr val="C9DFCD"/>
      </a:accent5>
      <a:accent6>
        <a:srgbClr val="F6D7C6"/>
      </a:accent6>
      <a:hlink>
        <a:srgbClr val="1E8A44"/>
      </a:hlink>
      <a:folHlink>
        <a:srgbClr val="17552E"/>
      </a:folHlink>
    </a:clrScheme>
    <a:fontScheme name="GrowNear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1284</Words>
  <Application>Microsoft Office PowerPoint</Application>
  <PresentationFormat>On-screen Show (16:9)</PresentationFormat>
  <Paragraphs>170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GrowNear</vt:lpstr>
      <vt:lpstr>GrowNear</vt:lpstr>
      <vt:lpstr>Ideia de negócio</vt:lpstr>
      <vt:lpstr>Proposta de valor</vt:lpstr>
      <vt:lpstr>Business Model Canvas</vt:lpstr>
      <vt:lpstr>Análise SWOT</vt:lpstr>
      <vt:lpstr>Objetivos do estudo de mercado</vt:lpstr>
      <vt:lpstr>Recolha de respostas</vt:lpstr>
      <vt:lpstr>Principais resultados</vt:lpstr>
      <vt:lpstr>Hipóteses e segmento prioritário</vt:lpstr>
      <vt:lpstr>O que muda no negócio</vt:lpstr>
      <vt:lpstr>Obrigado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GrowNear — Momento 1</dc:title>
  <dc:subject>PptxGenJS Presentation</dc:subject>
  <dc:creator>Grupo GrowNear</dc:creator>
  <cp:lastModifiedBy>Bruno De Abreu Lopes</cp:lastModifiedBy>
  <cp:revision>2</cp:revision>
  <dcterms:created xsi:type="dcterms:W3CDTF">2026-10-11T11:02:25Z</dcterms:created>
  <dcterms:modified xsi:type="dcterms:W3CDTF">2026-10-15T17:30:08Z</dcterms:modified>
</cp:coreProperties>
</file>