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10"/>
  </p:normalViewPr>
  <p:slideViewPr>
    <p:cSldViewPr snapToGrid="0" snapToObjects="1">
      <p:cViewPr varScale="1">
        <p:scale>
          <a:sx n="83" d="100"/>
          <a:sy n="83" d="100"/>
        </p:scale>
        <p:origin x="40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22088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Apresentar o nome e a frase: a GrowNear leva o que sobra no quintal até à mesa do vizinho. Apresentar o grupo rapidamente.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Dois lados com o mesmo problema: quem produz de mais e quem quer comprar fresco e perto. A GrowNear junta-os num mapa, com reserva na app e recolha local, sem logística de entregas.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Proposta de valor para o comprador. Para quem quer produtos frescos e locais a preço justo e não tem acesso fácil a pequenos produtores, a GrowNear é uma app marketplace local que mostra o que há perto, com origem conhecida e pagamento seguro. Ao contrário do supermercado, do OLX ou dos grupos de Facebook, compra-se ao vizinho, com avaliações reais e reembolso garantido. Bónus para a comunidade: menos desperdício e dinheiro que fica na economia local.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 stage: o que o cliente não vê. Parceiros para pagamentos, credibilidade institucional, acesso aos primeiros produtores e pontos de recolha. Atividades: manter a app, captar a oferta primeiro, zona a zona, e gerir a confiança. O recurso mais valioso é a rede de utilizadores. Custos: os maiores são a app e a aquisição de utilizadores; a operação é leve porque não temos stock nem entregas.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Front stage: o que o cliente vê. Plataforma multilateral com vendedores, que são prioritários porque sem oferta não há compradores, e compradores. Relação sobretudo em autosserviço, com ajuda presencial no arranque e o programa "convida um vizinho". Canais pela jornada do cliente: conhecer, comprar, receber e voltar. Receita: taxa de 0,50 € + 5 % ao comprador em cada compra paga na app (ex.: 0,75 € numa compra de 5 €); para o vendedor é grátis. Extra: destaque no mapa; fase 2: subscrição GrowNear Pro; parcerias com câmaras e juntas para campanhas anti-desperdício.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À esquerda, a SWOT: em cima o interno, em baixo o externo. À direita, o que fazemos com ela. Atacar: usar a marca de proximidade e os alertas para chegar a quem procura produto local, com apoio das autarquias. Reforçar: parcerias para compensar a oferta sazonal e a nossa pouca experiência no setor. Defender: o pagamento seguro e as avaliações são a nossa resposta às alternativas grátis. Prevenir: regras de segurança alimentar e moderação, porque um caso de intoxicação afetaria a marca.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objetivo geral é perceber quem tem mais interesse e em que condições. Os oito </a:t>
            </a:r>
            <a:r>
              <a:rPr lang="en-US" dirty="0" err="1"/>
              <a:t>objetivos</a:t>
            </a:r>
            <a:r>
              <a:rPr lang="en-US" dirty="0"/>
              <a:t> específicos cobrem perfil, hábitos, interesse, deslocação, critérios de decisão, pagamento e taxa, segmentos prioritários (cruzamento dos restantes) e aceitação da sazonalidade.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Questionário no Google Forms, aberto de 8 a 11 de outubro, com 114 respostas. Sete secções e 29 perguntas fechadas, cerca de 6 minutos. O perfil fica no fim para não cansar o inquirido logo no início.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Agradecer e abrir para perguntas.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447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200" dirty="0">
                <a:solidFill>
                  <a:srgbClr val="2D6A4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564630"/>
            <a:ext cx="10566400" cy="4480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2D6A4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447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200" dirty="0">
                <a:solidFill>
                  <a:srgbClr val="2D6A4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564630"/>
            <a:ext cx="10566400" cy="4480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2D6A4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D6A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66000" y="0"/>
            <a:ext cx="4826000" cy="4826000"/>
          </a:xfrm>
          <a:prstGeom prst="roundRect">
            <a:avLst>
              <a:gd name="adj" fmla="val 33684"/>
            </a:avLst>
          </a:prstGeom>
          <a:solidFill>
            <a:srgbClr val="346F54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3" name="Shape 1"/>
          <p:cNvSpPr/>
          <p:nvPr/>
        </p:nvSpPr>
        <p:spPr>
          <a:xfrm>
            <a:off x="10033000" y="1905000"/>
            <a:ext cx="1397000" cy="1397000"/>
          </a:xfrm>
          <a:prstGeom prst="roundRect">
            <a:avLst>
              <a:gd name="adj" fmla="val 50000"/>
            </a:avLst>
          </a:prstGeom>
          <a:solidFill>
            <a:srgbClr val="C5703C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4" name="Text 2"/>
          <p:cNvSpPr/>
          <p:nvPr/>
        </p:nvSpPr>
        <p:spPr>
          <a:xfrm>
            <a:off x="812800" y="812800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kern="0" spc="100" dirty="0">
                <a:solidFill>
                  <a:srgbClr val="CFE3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ISEP, INOVEL 2026/2027, MOMENTO 1</a:t>
            </a:r>
            <a:endParaRPr lang="en-US" sz="1400" dirty="0"/>
          </a:p>
        </p:txBody>
      </p:sp>
      <p:sp>
        <p:nvSpPr>
          <p:cNvPr id="5" name="Text 3"/>
          <p:cNvSpPr>
            <a:spLocks noGrp="1"/>
          </p:cNvSpPr>
          <p:nvPr>
            <p:ph type="title"/>
          </p:nvPr>
        </p:nvSpPr>
        <p:spPr>
          <a:xfrm>
            <a:off x="812800" y="2091730"/>
            <a:ext cx="10883392" cy="1168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9000"/>
              </a:lnSpc>
              <a:buNone/>
            </a:pPr>
            <a:r>
              <a:rPr lang="en-US" sz="9000" b="1" i="0" kern="0" spc="-200" dirty="0">
                <a:solidFill>
                  <a:srgbClr val="FFFD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GrowNear</a:t>
            </a:r>
            <a:endParaRPr lang="en-US" sz="9000" dirty="0"/>
          </a:p>
        </p:txBody>
      </p:sp>
      <p:sp>
        <p:nvSpPr>
          <p:cNvPr id="6" name="Shape 4"/>
          <p:cNvSpPr/>
          <p:nvPr/>
        </p:nvSpPr>
        <p:spPr>
          <a:xfrm>
            <a:off x="812800" y="3387130"/>
            <a:ext cx="1016000" cy="50800"/>
          </a:xfrm>
          <a:prstGeom prst="roundRect">
            <a:avLst>
              <a:gd name="adj" fmla="val 50000"/>
            </a:avLst>
          </a:prstGeom>
          <a:solidFill>
            <a:srgbClr val="C5703C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7" name="Text 5"/>
          <p:cNvSpPr/>
          <p:nvPr/>
        </p:nvSpPr>
        <p:spPr>
          <a:xfrm>
            <a:off x="812800" y="3590330"/>
            <a:ext cx="10883392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40"/>
              </a:lnSpc>
              <a:buNone/>
            </a:pPr>
            <a:r>
              <a:rPr lang="en-US" sz="2600" i="1" dirty="0">
                <a:solidFill>
                  <a:srgbClr val="F3E2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“Do quintal para a mesa do vizinho”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812800" y="50825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CFE3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GRUPO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12800" y="5346700"/>
            <a:ext cx="10883392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FFFD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Bruno Lopes 1240441, Tiago Teixeira 1240493, Francisco Peixoto 1211648,</a:t>
            </a:r>
            <a:endParaRPr lang="en-US" sz="1300" dirty="0"/>
          </a:p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FFFD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António Guerra 1190409, Luis Santos 1250534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2D6A4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Ideia de negócio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12800" y="1564630"/>
            <a:ext cx="47207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A85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PROBLEMA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812800" y="1904950"/>
            <a:ext cx="4583261" cy="1905000"/>
          </a:xfrm>
          <a:prstGeom prst="roundRect">
            <a:avLst>
              <a:gd name="adj" fmla="val 4000"/>
            </a:avLst>
          </a:prstGeom>
          <a:solidFill>
            <a:srgbClr val="FFFDF9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5" name="Shape 3"/>
          <p:cNvSpPr/>
          <p:nvPr/>
        </p:nvSpPr>
        <p:spPr>
          <a:xfrm>
            <a:off x="812800" y="1904950"/>
            <a:ext cx="4583261" cy="1905000"/>
          </a:xfrm>
          <a:custGeom>
            <a:avLst/>
            <a:gdLst/>
            <a:ahLst/>
            <a:cxnLst/>
            <a:rect l="l" t="t" r="r" b="b"/>
            <a:pathLst>
              <a:path w="4583261" h="1905000">
                <a:moveTo>
                  <a:pt x="76200" y="1905000"/>
                </a:moveTo>
                <a:lnTo>
                  <a:pt x="76200" y="1905000"/>
                </a:lnTo>
                <a:arcTo wR="76200" hR="76200" stAng="5400000" swAng="5400000"/>
                <a:lnTo>
                  <a:pt x="0" y="76200"/>
                </a:lnTo>
                <a:arcTo wR="76200" hR="76200" stAng="10800000" swAng="5400000"/>
                <a:lnTo>
                  <a:pt x="76200" y="0"/>
                </a:lnTo>
                <a:arcTo wR="25400" hR="76200" stAng="16200000" swAng="-5400000"/>
                <a:lnTo>
                  <a:pt x="50800" y="1828800"/>
                </a:lnTo>
                <a:arcTo wR="25400" hR="76200" stAng="10800000" swAng="-5400000"/>
                <a:close/>
              </a:path>
            </a:pathLst>
          </a:custGeom>
          <a:solidFill>
            <a:srgbClr val="C5703C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1117600" y="2454870"/>
            <a:ext cx="4145195" cy="299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Colheitas desperdiçadas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17600" y="2779961"/>
            <a:ext cx="4145195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dirty="0">
                <a:solidFill>
                  <a:srgbClr val="4E5B5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Produtores com excedentes que não têm onde os escoar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12800" y="3936950"/>
            <a:ext cx="4583261" cy="1905050"/>
          </a:xfrm>
          <a:prstGeom prst="roundRect">
            <a:avLst>
              <a:gd name="adj" fmla="val 4000"/>
            </a:avLst>
          </a:prstGeom>
          <a:solidFill>
            <a:srgbClr val="FFFDF9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9" name="Shape 7"/>
          <p:cNvSpPr/>
          <p:nvPr/>
        </p:nvSpPr>
        <p:spPr>
          <a:xfrm>
            <a:off x="812800" y="3936950"/>
            <a:ext cx="4583261" cy="1905050"/>
          </a:xfrm>
          <a:custGeom>
            <a:avLst/>
            <a:gdLst/>
            <a:ahLst/>
            <a:cxnLst/>
            <a:rect l="l" t="t" r="r" b="b"/>
            <a:pathLst>
              <a:path w="4583261" h="1905050">
                <a:moveTo>
                  <a:pt x="76200" y="1905050"/>
                </a:moveTo>
                <a:lnTo>
                  <a:pt x="76200" y="1905050"/>
                </a:lnTo>
                <a:arcTo wR="76200" hR="76200" stAng="5400000" swAng="5400000"/>
                <a:lnTo>
                  <a:pt x="0" y="76200"/>
                </a:lnTo>
                <a:arcTo wR="76200" hR="76200" stAng="10800000" swAng="5400000"/>
                <a:lnTo>
                  <a:pt x="76200" y="0"/>
                </a:lnTo>
                <a:arcTo wR="25400" hR="76200" stAng="16200000" swAng="-5400000"/>
                <a:lnTo>
                  <a:pt x="50800" y="1828850"/>
                </a:lnTo>
                <a:arcTo wR="25400" hR="76200" stAng="10800000" swAng="-5400000"/>
                <a:close/>
              </a:path>
            </a:pathLst>
          </a:custGeom>
          <a:solidFill>
            <a:srgbClr val="C5703C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0" name="Text 8"/>
          <p:cNvSpPr/>
          <p:nvPr/>
        </p:nvSpPr>
        <p:spPr>
          <a:xfrm>
            <a:off x="1117600" y="4486920"/>
            <a:ext cx="4145195" cy="299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Frescos difíceis de encontrar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17600" y="4812010"/>
            <a:ext cx="4145195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dirty="0">
                <a:solidFill>
                  <a:srgbClr val="4E5B5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Compradores sem acesso fácil a produtos frescos e locais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50061" y="1564630"/>
            <a:ext cx="590101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D6A4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SOLUÇÃO — GROWNEAR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50061" y="1904950"/>
            <a:ext cx="5729139" cy="3937050"/>
          </a:xfrm>
          <a:prstGeom prst="roundRect">
            <a:avLst>
              <a:gd name="adj" fmla="val 1935"/>
            </a:avLst>
          </a:prstGeom>
          <a:solidFill>
            <a:srgbClr val="2D6A4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4" name="Text 12"/>
          <p:cNvSpPr/>
          <p:nvPr/>
        </p:nvSpPr>
        <p:spPr>
          <a:xfrm>
            <a:off x="6005661" y="2610793"/>
            <a:ext cx="5168477" cy="8997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95"/>
              </a:lnSpc>
              <a:buNone/>
            </a:pPr>
            <a:r>
              <a:rPr lang="en-US" sz="1700" dirty="0">
                <a:solidFill>
                  <a:srgbClr val="FFFD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marketplace que liga </a:t>
            </a:r>
            <a:r>
              <a:rPr lang="en-US" sz="1700" b="1" dirty="0">
                <a:solidFill>
                  <a:srgbClr val="FFFD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produtores não </a:t>
            </a:r>
            <a:r>
              <a:rPr lang="en-US" sz="1700" b="1" dirty="0" err="1">
                <a:solidFill>
                  <a:srgbClr val="FFFD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profissionais</a:t>
            </a:r>
            <a:r>
              <a:rPr lang="en-US" sz="1700" dirty="0">
                <a:solidFill>
                  <a:srgbClr val="FFFD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Horta, pomar, galinheiro, colmeia — a </a:t>
            </a:r>
            <a:r>
              <a:rPr lang="en-US" sz="1700" b="1" dirty="0">
                <a:solidFill>
                  <a:srgbClr val="FFFD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compradores vizinhos</a:t>
            </a:r>
            <a:r>
              <a:rPr lang="en-US" sz="1700" dirty="0">
                <a:solidFill>
                  <a:srgbClr val="FFFD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005661" y="3688358"/>
            <a:ext cx="5017939" cy="12700"/>
          </a:xfrm>
          <a:prstGeom prst="rect">
            <a:avLst/>
          </a:prstGeom>
          <a:solidFill>
            <a:srgbClr val="4F8A6E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6" name="Text 14"/>
          <p:cNvSpPr/>
          <p:nvPr/>
        </p:nvSpPr>
        <p:spPr>
          <a:xfrm>
            <a:off x="6005661" y="3904258"/>
            <a:ext cx="162917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E9A9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270179" y="3904258"/>
            <a:ext cx="5109021" cy="2825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500" dirty="0">
                <a:solidFill>
                  <a:srgbClr val="FFFD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comprador vê num </a:t>
            </a:r>
            <a:r>
              <a:rPr lang="en-US" sz="1500" b="1" dirty="0">
                <a:solidFill>
                  <a:srgbClr val="FFFD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mapa</a:t>
            </a:r>
            <a:r>
              <a:rPr lang="en-US" sz="1500" dirty="0">
                <a:solidFill>
                  <a:srgbClr val="FFFD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o que há perto de si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005661" y="4364633"/>
            <a:ext cx="123428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E9A9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230689" y="4364633"/>
            <a:ext cx="4936698" cy="796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FFFD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Reserva na app</a:t>
            </a:r>
            <a:r>
              <a:rPr lang="en-US" sz="1500" dirty="0">
                <a:solidFill>
                  <a:srgbClr val="FFFD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 recolhe em casa do produtor ou num ponto de recolha (café, mercearia) — sem entrega ao domicílio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12800" y="6238280"/>
            <a:ext cx="91428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D6A4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GrowNear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76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4174986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2D6A4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Proposta de valor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164929" y="975370"/>
            <a:ext cx="3214271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240"/>
              </a:lnSpc>
              <a:buNone/>
            </a:pPr>
            <a:r>
              <a:rPr lang="en-US" sz="1600" b="1" i="1" dirty="0">
                <a:solidFill>
                  <a:srgbClr val="C57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“Colhido hoje. Perto de si.”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12800" y="1463030"/>
            <a:ext cx="1397000" cy="571103"/>
          </a:xfrm>
          <a:prstGeom prst="roundRect">
            <a:avLst>
              <a:gd name="adj" fmla="val 11119"/>
            </a:avLst>
          </a:prstGeom>
          <a:solidFill>
            <a:srgbClr val="2D6A4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D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2311400" y="1463030"/>
            <a:ext cx="9067800" cy="571103"/>
          </a:xfrm>
          <a:prstGeom prst="roundRect">
            <a:avLst>
              <a:gd name="adj" fmla="val 11119"/>
            </a:avLst>
          </a:prstGeom>
          <a:solidFill>
            <a:srgbClr val="FFFDF9"/>
          </a:solidFill>
          <a:ln/>
        </p:spPr>
        <p:txBody>
          <a:bodyPr wrap="square" lIns="184601" tIns="32201" rIns="184601" bIns="32201" rtlCol="0" anchor="ctr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quem quer produtos frescos e locais, a preço justo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12800" y="2097633"/>
            <a:ext cx="1397000" cy="571153"/>
          </a:xfrm>
          <a:prstGeom prst="roundRect">
            <a:avLst>
              <a:gd name="adj" fmla="val 11118"/>
            </a:avLst>
          </a:prstGeom>
          <a:solidFill>
            <a:srgbClr val="2D6A4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D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311400" y="2097633"/>
            <a:ext cx="9067800" cy="571153"/>
          </a:xfrm>
          <a:prstGeom prst="roundRect">
            <a:avLst>
              <a:gd name="adj" fmla="val 11118"/>
            </a:avLst>
          </a:prstGeom>
          <a:solidFill>
            <a:srgbClr val="FFFDF9"/>
          </a:solidFill>
          <a:ln/>
        </p:spPr>
        <p:txBody>
          <a:bodyPr wrap="square" lIns="184601" tIns="32201" rIns="184601" bIns="32201" rtlCol="0" anchor="ctr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não tem acesso fácil a pequenos produtores da sua zona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12800" y="2732286"/>
            <a:ext cx="1397000" cy="571103"/>
          </a:xfrm>
          <a:prstGeom prst="roundRect">
            <a:avLst>
              <a:gd name="adj" fmla="val 11119"/>
            </a:avLst>
          </a:prstGeom>
          <a:solidFill>
            <a:srgbClr val="2D6A4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D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311400" y="2732286"/>
            <a:ext cx="9067800" cy="571103"/>
          </a:xfrm>
          <a:prstGeom prst="roundRect">
            <a:avLst>
              <a:gd name="adj" fmla="val 11119"/>
            </a:avLst>
          </a:prstGeom>
          <a:solidFill>
            <a:srgbClr val="FFFDF9"/>
          </a:solidFill>
          <a:ln/>
        </p:spPr>
        <p:txBody>
          <a:bodyPr wrap="square" lIns="184601" tIns="32201" rIns="184601" bIns="32201" rtlCol="0" anchor="ctr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2D6A4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GrowNear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12800" y="3366889"/>
            <a:ext cx="1397000" cy="571153"/>
          </a:xfrm>
          <a:prstGeom prst="roundRect">
            <a:avLst>
              <a:gd name="adj" fmla="val 11118"/>
            </a:avLst>
          </a:prstGeom>
          <a:solidFill>
            <a:srgbClr val="2D6A4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D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A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311400" y="3366889"/>
            <a:ext cx="9067800" cy="571153"/>
          </a:xfrm>
          <a:prstGeom prst="roundRect">
            <a:avLst>
              <a:gd name="adj" fmla="val 11118"/>
            </a:avLst>
          </a:prstGeom>
          <a:solidFill>
            <a:srgbClr val="FFFDF9"/>
          </a:solidFill>
          <a:ln/>
        </p:spPr>
        <p:txBody>
          <a:bodyPr wrap="square" lIns="184601" tIns="32201" rIns="184601" bIns="32201" rtlCol="0" anchor="ctr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marketplace local, com mapa, reservas e avaliações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12800" y="4001542"/>
            <a:ext cx="1397000" cy="571153"/>
          </a:xfrm>
          <a:prstGeom prst="roundRect">
            <a:avLst>
              <a:gd name="adj" fmla="val 11118"/>
            </a:avLst>
          </a:prstGeom>
          <a:solidFill>
            <a:srgbClr val="2D6A4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D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311400" y="4001542"/>
            <a:ext cx="9067800" cy="571153"/>
          </a:xfrm>
          <a:prstGeom prst="roundRect">
            <a:avLst>
              <a:gd name="adj" fmla="val 11118"/>
            </a:avLst>
          </a:prstGeom>
          <a:solidFill>
            <a:srgbClr val="FFFDF9"/>
          </a:solidFill>
          <a:ln/>
        </p:spPr>
        <p:txBody>
          <a:bodyPr wrap="square" lIns="184601" tIns="32201" rIns="184601" bIns="32201" rtlCol="0" anchor="ctr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mostra o que há perto de si, com origem conhecida e pagamento seguro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12800" y="4636195"/>
            <a:ext cx="1397000" cy="571153"/>
          </a:xfrm>
          <a:prstGeom prst="roundRect">
            <a:avLst>
              <a:gd name="adj" fmla="val 11118"/>
            </a:avLst>
          </a:prstGeom>
          <a:solidFill>
            <a:srgbClr val="2D6A4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D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UNLIKE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311400" y="4636195"/>
            <a:ext cx="9067800" cy="571153"/>
          </a:xfrm>
          <a:prstGeom prst="roundRect">
            <a:avLst>
              <a:gd name="adj" fmla="val 11118"/>
            </a:avLst>
          </a:prstGeom>
          <a:solidFill>
            <a:srgbClr val="FFFDF9"/>
          </a:solidFill>
          <a:ln/>
        </p:spPr>
        <p:txBody>
          <a:bodyPr wrap="square" lIns="184601" tIns="32201" rIns="184601" bIns="32201" rtlCol="0" anchor="ctr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supermercados, OLX ou grupos de Facebook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2800" y="5270847"/>
            <a:ext cx="1397000" cy="571153"/>
          </a:xfrm>
          <a:prstGeom prst="roundRect">
            <a:avLst>
              <a:gd name="adj" fmla="val 11118"/>
            </a:avLst>
          </a:prstGeom>
          <a:solidFill>
            <a:srgbClr val="C5703C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D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311400" y="5270847"/>
            <a:ext cx="9067800" cy="571153"/>
          </a:xfrm>
          <a:prstGeom prst="roundRect">
            <a:avLst>
              <a:gd name="adj" fmla="val 11118"/>
            </a:avLst>
          </a:prstGeom>
          <a:solidFill>
            <a:srgbClr val="F5E3D6"/>
          </a:solidFill>
          <a:ln/>
        </p:spPr>
        <p:txBody>
          <a:bodyPr wrap="square" lIns="184601" tIns="32201" rIns="184601" bIns="32201" rtlCol="0" anchor="ctr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produto colhido pelo vizinho, com avaliações reais e reembolso garantido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12800" y="6238280"/>
            <a:ext cx="91428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D6A4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GrowNear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76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5669399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2D6A4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Model Canvas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818340" y="909340"/>
            <a:ext cx="1560860" cy="350490"/>
          </a:xfrm>
          <a:prstGeom prst="roundRect">
            <a:avLst>
              <a:gd name="adj" fmla="val 43482"/>
            </a:avLst>
          </a:prstGeom>
          <a:solidFill>
            <a:srgbClr val="2D6A4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b="1" kern="0" spc="100" dirty="0">
                <a:solidFill>
                  <a:srgbClr val="FFFD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 STAGE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12800" y="1437630"/>
            <a:ext cx="3420517" cy="3223270"/>
          </a:xfrm>
          <a:prstGeom prst="roundRect">
            <a:avLst>
              <a:gd name="adj" fmla="val 2364"/>
            </a:avLst>
          </a:prstGeom>
          <a:solidFill>
            <a:srgbClr val="FFFDF9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5" name="Shape 3"/>
          <p:cNvSpPr/>
          <p:nvPr/>
        </p:nvSpPr>
        <p:spPr>
          <a:xfrm>
            <a:off x="812800" y="1437630"/>
            <a:ext cx="3420517" cy="3223270"/>
          </a:xfrm>
          <a:custGeom>
            <a:avLst/>
            <a:gdLst/>
            <a:ahLst/>
            <a:cxnLst/>
            <a:rect l="l" t="t" r="r" b="b"/>
            <a:pathLst>
              <a:path w="3420517" h="3223270">
                <a:moveTo>
                  <a:pt x="0" y="76200"/>
                </a:moveTo>
                <a:lnTo>
                  <a:pt x="0" y="76200"/>
                </a:lnTo>
                <a:arcTo wR="76200" hR="76200" stAng="10800000" swAng="5400000"/>
                <a:lnTo>
                  <a:pt x="3344317" y="0"/>
                </a:lnTo>
                <a:arcTo wR="76200" hR="76200" stAng="16200000" swAng="5400000"/>
                <a:lnTo>
                  <a:pt x="3420517" y="76200"/>
                </a:lnTo>
                <a:arcTo wR="76200" hR="25400" stAng="0" swAng="-5400000"/>
                <a:lnTo>
                  <a:pt x="76200" y="50800"/>
                </a:lnTo>
                <a:arcTo wR="76200" hR="25400" stAng="16200000" swAng="-5400000"/>
                <a:close/>
              </a:path>
            </a:pathLst>
          </a:custGeom>
          <a:solidFill>
            <a:srgbClr val="2D6A4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1003300" y="1666230"/>
            <a:ext cx="313070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2D6A4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Parceiros-chave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03300" y="1983730"/>
            <a:ext cx="3130702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Pagamentos:</a:t>
            </a: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Stripe / MB Way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3300" y="2263130"/>
            <a:ext cx="3130702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Institucionais:</a:t>
            </a: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juntas e câmaras (divulgação e credibilidade)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03300" y="2733030"/>
            <a:ext cx="3130702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Setor:</a:t>
            </a: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cooperativas e associações agrícolas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03300" y="3202930"/>
            <a:ext cx="3130702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Recolha:</a:t>
            </a: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cafés, mercearias e mercados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03300" y="3482330"/>
            <a:ext cx="3230017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Tecnologia:</a:t>
            </a: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cloud (AWS / Azure) e mapas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385717" y="1437630"/>
            <a:ext cx="3420517" cy="3223270"/>
          </a:xfrm>
          <a:prstGeom prst="roundRect">
            <a:avLst>
              <a:gd name="adj" fmla="val 2364"/>
            </a:avLst>
          </a:prstGeom>
          <a:solidFill>
            <a:srgbClr val="FFFDF9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3" name="Shape 11"/>
          <p:cNvSpPr/>
          <p:nvPr/>
        </p:nvSpPr>
        <p:spPr>
          <a:xfrm>
            <a:off x="4385717" y="1437630"/>
            <a:ext cx="3420517" cy="3223270"/>
          </a:xfrm>
          <a:custGeom>
            <a:avLst/>
            <a:gdLst/>
            <a:ahLst/>
            <a:cxnLst/>
            <a:rect l="l" t="t" r="r" b="b"/>
            <a:pathLst>
              <a:path w="3420517" h="3223270">
                <a:moveTo>
                  <a:pt x="0" y="76200"/>
                </a:moveTo>
                <a:lnTo>
                  <a:pt x="0" y="76200"/>
                </a:lnTo>
                <a:arcTo wR="76200" hR="76200" stAng="10800000" swAng="5400000"/>
                <a:lnTo>
                  <a:pt x="3344317" y="0"/>
                </a:lnTo>
                <a:arcTo wR="76200" hR="76200" stAng="16200000" swAng="5400000"/>
                <a:lnTo>
                  <a:pt x="3420517" y="76200"/>
                </a:lnTo>
                <a:arcTo wR="76200" hR="25400" stAng="0" swAng="-5400000"/>
                <a:lnTo>
                  <a:pt x="76200" y="50800"/>
                </a:lnTo>
                <a:arcTo wR="76200" hR="25400" stAng="16200000" swAng="-5400000"/>
                <a:close/>
              </a:path>
            </a:pathLst>
          </a:custGeom>
          <a:solidFill>
            <a:srgbClr val="2D6A4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4" name="Text 12"/>
          <p:cNvSpPr/>
          <p:nvPr/>
        </p:nvSpPr>
        <p:spPr>
          <a:xfrm>
            <a:off x="4576217" y="1666230"/>
            <a:ext cx="313070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2D6A4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Atividades-chave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6217" y="1983730"/>
            <a:ext cx="3130702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Plataforma:</a:t>
            </a: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app com mapa, reservas, pagamentos e avaliações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6217" y="2453630"/>
            <a:ext cx="3130702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Oferta primeiro:</a:t>
            </a: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captar produtores zona a zona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6217" y="2923530"/>
            <a:ext cx="3130702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Confiança:</a:t>
            </a: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moderar anúncios, conflitos e reembolsos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6217" y="3393430"/>
            <a:ext cx="3230017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Crescimento:</a:t>
            </a: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marketing local e parcerias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6217" y="3672830"/>
            <a:ext cx="3130702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Conformidade:</a:t>
            </a: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regras fiscais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958634" y="1437630"/>
            <a:ext cx="3420566" cy="3223270"/>
          </a:xfrm>
          <a:prstGeom prst="roundRect">
            <a:avLst>
              <a:gd name="adj" fmla="val 2364"/>
            </a:avLst>
          </a:prstGeom>
          <a:solidFill>
            <a:srgbClr val="FFFDF9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21" name="Shape 19"/>
          <p:cNvSpPr/>
          <p:nvPr/>
        </p:nvSpPr>
        <p:spPr>
          <a:xfrm>
            <a:off x="7958634" y="1437630"/>
            <a:ext cx="3420566" cy="3223270"/>
          </a:xfrm>
          <a:custGeom>
            <a:avLst/>
            <a:gdLst/>
            <a:ahLst/>
            <a:cxnLst/>
            <a:rect l="l" t="t" r="r" b="b"/>
            <a:pathLst>
              <a:path w="3420566" h="3223270">
                <a:moveTo>
                  <a:pt x="0" y="76200"/>
                </a:moveTo>
                <a:lnTo>
                  <a:pt x="0" y="76200"/>
                </a:lnTo>
                <a:arcTo wR="76200" hR="76200" stAng="10800000" swAng="5400000"/>
                <a:lnTo>
                  <a:pt x="3344366" y="0"/>
                </a:lnTo>
                <a:arcTo wR="76200" hR="76200" stAng="16200000" swAng="5400000"/>
                <a:lnTo>
                  <a:pt x="3420566" y="76200"/>
                </a:lnTo>
                <a:arcTo wR="76200" hR="25400" stAng="0" swAng="-5400000"/>
                <a:lnTo>
                  <a:pt x="76200" y="50800"/>
                </a:lnTo>
                <a:arcTo wR="76200" hR="25400" stAng="16200000" swAng="-5400000"/>
                <a:close/>
              </a:path>
            </a:pathLst>
          </a:custGeom>
          <a:solidFill>
            <a:srgbClr val="2D6A4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22" name="Text 20"/>
          <p:cNvSpPr/>
          <p:nvPr/>
        </p:nvSpPr>
        <p:spPr>
          <a:xfrm>
            <a:off x="8149134" y="1666230"/>
            <a:ext cx="313075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2D6A4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Recursos-chave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149134" y="1983730"/>
            <a:ext cx="313075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Tecnológicos:</a:t>
            </a: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app e infraestrutura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149134" y="2263130"/>
            <a:ext cx="3130753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Humanos:</a:t>
            </a: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desenvolvimento, marketing e apoio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149134" y="2733030"/>
            <a:ext cx="3130753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Intelectuais:</a:t>
            </a: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marca e dados de oferta e procura por zona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149134" y="3202930"/>
            <a:ext cx="3130753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Rede:</a:t>
            </a: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base de utilizadores, o ativo mais valioso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149134" y="3672830"/>
            <a:ext cx="313075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Financeiros:</a:t>
            </a: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capital inicial para a V1.0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12800" y="4838700"/>
            <a:ext cx="10566400" cy="1003300"/>
          </a:xfrm>
          <a:prstGeom prst="roundRect">
            <a:avLst>
              <a:gd name="adj" fmla="val 7595"/>
            </a:avLst>
          </a:prstGeom>
          <a:solidFill>
            <a:srgbClr val="FFFDF9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29" name="Shape 27"/>
          <p:cNvSpPr/>
          <p:nvPr/>
        </p:nvSpPr>
        <p:spPr>
          <a:xfrm>
            <a:off x="812800" y="4838700"/>
            <a:ext cx="10566400" cy="1003300"/>
          </a:xfrm>
          <a:custGeom>
            <a:avLst/>
            <a:gdLst/>
            <a:ahLst/>
            <a:cxnLst/>
            <a:rect l="l" t="t" r="r" b="b"/>
            <a:pathLst>
              <a:path w="10566400" h="1003300">
                <a:moveTo>
                  <a:pt x="76200" y="1003300"/>
                </a:moveTo>
                <a:lnTo>
                  <a:pt x="76200" y="1003300"/>
                </a:lnTo>
                <a:arcTo wR="76200" hR="76200" stAng="5400000" swAng="5400000"/>
                <a:lnTo>
                  <a:pt x="0" y="76200"/>
                </a:lnTo>
                <a:arcTo wR="76200" hR="76200" stAng="10800000" swAng="5400000"/>
                <a:lnTo>
                  <a:pt x="76200" y="0"/>
                </a:lnTo>
                <a:arcTo wR="25400" hR="76200" stAng="16200000" swAng="-5400000"/>
                <a:lnTo>
                  <a:pt x="50800" y="927100"/>
                </a:lnTo>
                <a:arcTo wR="25400" hR="76200" stAng="10800000" swAng="-5400000"/>
                <a:close/>
              </a:path>
            </a:pathLst>
          </a:custGeom>
          <a:solidFill>
            <a:srgbClr val="C5703C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30" name="Text 28"/>
          <p:cNvSpPr/>
          <p:nvPr/>
        </p:nvSpPr>
        <p:spPr>
          <a:xfrm>
            <a:off x="1054100" y="4991100"/>
            <a:ext cx="1043863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A85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Estrutura de custos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054100" y="5308600"/>
            <a:ext cx="3339998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Fixos:</a:t>
            </a: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app, salários, servidores, licenças, jurídico e contabilidade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500017" y="5308600"/>
            <a:ext cx="3339998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Variáveis:</a:t>
            </a: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comissões de pagamento, marketing, apoio, reembolsos e incentivos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945934" y="5308600"/>
            <a:ext cx="3339998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Lógica:</a:t>
            </a: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orientado ao custo, operação leve e automatizada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12800" y="6238280"/>
            <a:ext cx="91428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D6A4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GrowNear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76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5669399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2D6A4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Model Canvas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695607" y="909340"/>
            <a:ext cx="1683593" cy="350490"/>
          </a:xfrm>
          <a:prstGeom prst="roundRect">
            <a:avLst>
              <a:gd name="adj" fmla="val 43482"/>
            </a:avLst>
          </a:prstGeom>
          <a:solidFill>
            <a:srgbClr val="C5703C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b="1" kern="0" spc="100" dirty="0">
                <a:solidFill>
                  <a:srgbClr val="FFFD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FRONT STAGE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12800" y="1437630"/>
            <a:ext cx="2540000" cy="4404370"/>
          </a:xfrm>
          <a:prstGeom prst="roundRect">
            <a:avLst>
              <a:gd name="adj" fmla="val 3000"/>
            </a:avLst>
          </a:prstGeom>
          <a:solidFill>
            <a:srgbClr val="2D6A4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5" name="Text 3"/>
          <p:cNvSpPr/>
          <p:nvPr/>
        </p:nvSpPr>
        <p:spPr>
          <a:xfrm>
            <a:off x="1016000" y="2367409"/>
            <a:ext cx="219760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3D2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Proposta de valor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16000" y="2773809"/>
            <a:ext cx="2197608" cy="817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D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Compradores:</a:t>
            </a:r>
            <a:r>
              <a:rPr lang="en-US" sz="1200" dirty="0">
                <a:solidFill>
                  <a:srgbClr val="FFFD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frescos e locais, perto de casa, com origem conhecida e pagamento seguro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16000" y="3743970"/>
            <a:ext cx="2197608" cy="6196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D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Vendedores:</a:t>
            </a:r>
            <a:r>
              <a:rPr lang="en-US" sz="1200" dirty="0">
                <a:solidFill>
                  <a:srgbClr val="FFFD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o excedente vira rendimento; anunciar é grátis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16000" y="4516041"/>
            <a:ext cx="2197608" cy="4215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D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Comunidade:</a:t>
            </a:r>
            <a:r>
              <a:rPr lang="en-US" sz="1200" dirty="0">
                <a:solidFill>
                  <a:srgbClr val="FFFD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menos desperdício e economia local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505200" y="1437630"/>
            <a:ext cx="3860800" cy="2125960"/>
          </a:xfrm>
          <a:prstGeom prst="roundRect">
            <a:avLst>
              <a:gd name="adj" fmla="val 3584"/>
            </a:avLst>
          </a:prstGeom>
          <a:solidFill>
            <a:srgbClr val="FFFDF9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0" name="Shape 8"/>
          <p:cNvSpPr/>
          <p:nvPr/>
        </p:nvSpPr>
        <p:spPr>
          <a:xfrm>
            <a:off x="3505200" y="1437630"/>
            <a:ext cx="3860800" cy="2125960"/>
          </a:xfrm>
          <a:custGeom>
            <a:avLst/>
            <a:gdLst/>
            <a:ahLst/>
            <a:cxnLst/>
            <a:rect l="l" t="t" r="r" b="b"/>
            <a:pathLst>
              <a:path w="3860800" h="2125960">
                <a:moveTo>
                  <a:pt x="0" y="76200"/>
                </a:moveTo>
                <a:lnTo>
                  <a:pt x="0" y="76200"/>
                </a:lnTo>
                <a:arcTo wR="76200" hR="76200" stAng="10800000" swAng="5400000"/>
                <a:lnTo>
                  <a:pt x="3784600" y="0"/>
                </a:lnTo>
                <a:arcTo wR="76200" hR="76200" stAng="16200000" swAng="5400000"/>
                <a:lnTo>
                  <a:pt x="3860800" y="76200"/>
                </a:lnTo>
                <a:arcTo wR="76200" hR="25400" stAng="0" swAng="-5400000"/>
                <a:lnTo>
                  <a:pt x="76200" y="50800"/>
                </a:lnTo>
                <a:arcTo wR="76200" hR="25400" stAng="16200000" swAng="-5400000"/>
                <a:close/>
              </a:path>
            </a:pathLst>
          </a:custGeom>
          <a:solidFill>
            <a:srgbClr val="2D6A4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1" name="Text 9"/>
          <p:cNvSpPr/>
          <p:nvPr/>
        </p:nvSpPr>
        <p:spPr>
          <a:xfrm>
            <a:off x="3695700" y="1640830"/>
            <a:ext cx="358419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2D6A4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Segmentos de clientes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695700" y="1932930"/>
            <a:ext cx="3584194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Multilateral:</a:t>
            </a: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dois públicos que precisam um do outro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95700" y="2377430"/>
            <a:ext cx="3584194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Vendedores (prioritários):</a:t>
            </a: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hortas, pomares, animais e colmeias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695700" y="2821930"/>
            <a:ext cx="3584194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Compradores:</a:t>
            </a: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quem quer frescos a bom preço; restaurantes e cafés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518400" y="1437630"/>
            <a:ext cx="3860800" cy="2125960"/>
          </a:xfrm>
          <a:prstGeom prst="roundRect">
            <a:avLst>
              <a:gd name="adj" fmla="val 3584"/>
            </a:avLst>
          </a:prstGeom>
          <a:solidFill>
            <a:srgbClr val="FFFDF9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6" name="Shape 14"/>
          <p:cNvSpPr/>
          <p:nvPr/>
        </p:nvSpPr>
        <p:spPr>
          <a:xfrm>
            <a:off x="7518400" y="1437630"/>
            <a:ext cx="3860800" cy="2125960"/>
          </a:xfrm>
          <a:custGeom>
            <a:avLst/>
            <a:gdLst/>
            <a:ahLst/>
            <a:cxnLst/>
            <a:rect l="l" t="t" r="r" b="b"/>
            <a:pathLst>
              <a:path w="3860800" h="2125960">
                <a:moveTo>
                  <a:pt x="0" y="76200"/>
                </a:moveTo>
                <a:lnTo>
                  <a:pt x="0" y="76200"/>
                </a:lnTo>
                <a:arcTo wR="76200" hR="76200" stAng="10800000" swAng="5400000"/>
                <a:lnTo>
                  <a:pt x="3784600" y="0"/>
                </a:lnTo>
                <a:arcTo wR="76200" hR="76200" stAng="16200000" swAng="5400000"/>
                <a:lnTo>
                  <a:pt x="3860800" y="76200"/>
                </a:lnTo>
                <a:arcTo wR="76200" hR="25400" stAng="0" swAng="-5400000"/>
                <a:lnTo>
                  <a:pt x="76200" y="50800"/>
                </a:lnTo>
                <a:arcTo wR="76200" hR="25400" stAng="16200000" swAng="-5400000"/>
                <a:close/>
              </a:path>
            </a:pathLst>
          </a:custGeom>
          <a:solidFill>
            <a:srgbClr val="2D6A4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7" name="Text 15"/>
          <p:cNvSpPr/>
          <p:nvPr/>
        </p:nvSpPr>
        <p:spPr>
          <a:xfrm>
            <a:off x="7708900" y="1640830"/>
            <a:ext cx="358419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2D6A4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Relações com clientes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708900" y="1932930"/>
            <a:ext cx="3584194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Autosserviço</a:t>
            </a: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na app e avaliações mútuas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08900" y="2186930"/>
            <a:ext cx="3584194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Arranque:</a:t>
            </a: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ajuda presencial aos primeiros produtores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708900" y="2631430"/>
            <a:ext cx="36703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“Convida um vizinho”</a:t>
            </a: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com crédito para ambos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708900" y="2885430"/>
            <a:ext cx="3584194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Fidelização:</a:t>
            </a: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alertas de disponibilidade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505200" y="3715990"/>
            <a:ext cx="3860800" cy="2126010"/>
          </a:xfrm>
          <a:prstGeom prst="roundRect">
            <a:avLst>
              <a:gd name="adj" fmla="val 3584"/>
            </a:avLst>
          </a:prstGeom>
          <a:solidFill>
            <a:srgbClr val="FFFDF9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23" name="Shape 21"/>
          <p:cNvSpPr/>
          <p:nvPr/>
        </p:nvSpPr>
        <p:spPr>
          <a:xfrm>
            <a:off x="3505200" y="3715990"/>
            <a:ext cx="3860800" cy="2126010"/>
          </a:xfrm>
          <a:custGeom>
            <a:avLst/>
            <a:gdLst/>
            <a:ahLst/>
            <a:cxnLst/>
            <a:rect l="l" t="t" r="r" b="b"/>
            <a:pathLst>
              <a:path w="3860800" h="2126010">
                <a:moveTo>
                  <a:pt x="0" y="76200"/>
                </a:moveTo>
                <a:lnTo>
                  <a:pt x="0" y="76200"/>
                </a:lnTo>
                <a:arcTo wR="76200" hR="76200" stAng="10800000" swAng="5400000"/>
                <a:lnTo>
                  <a:pt x="3784600" y="0"/>
                </a:lnTo>
                <a:arcTo wR="76200" hR="76200" stAng="16200000" swAng="5400000"/>
                <a:lnTo>
                  <a:pt x="3860800" y="76200"/>
                </a:lnTo>
                <a:arcTo wR="76200" hR="25400" stAng="0" swAng="-5400000"/>
                <a:lnTo>
                  <a:pt x="76200" y="50800"/>
                </a:lnTo>
                <a:arcTo wR="76200" hR="25400" stAng="16200000" swAng="-5400000"/>
                <a:close/>
              </a:path>
            </a:pathLst>
          </a:custGeom>
          <a:solidFill>
            <a:srgbClr val="2D6A4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24" name="Text 22"/>
          <p:cNvSpPr/>
          <p:nvPr/>
        </p:nvSpPr>
        <p:spPr>
          <a:xfrm>
            <a:off x="3695700" y="3919190"/>
            <a:ext cx="358419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2D6A4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Canais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3695700" y="4211290"/>
            <a:ext cx="3584194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Conhecer:</a:t>
            </a: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juntas, feiras e redes sociais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695700" y="4465290"/>
            <a:ext cx="3584194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Comprar:</a:t>
            </a: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app com mapa e reserva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695700" y="4719290"/>
            <a:ext cx="3584194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Receber:</a:t>
            </a: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recolha no produtor ou em ponto partilhado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695700" y="5163790"/>
            <a:ext cx="3584194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Voltar:</a:t>
            </a: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favoritos e alertas “avisar-me”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518400" y="3715990"/>
            <a:ext cx="3860800" cy="2126010"/>
          </a:xfrm>
          <a:prstGeom prst="roundRect">
            <a:avLst>
              <a:gd name="adj" fmla="val 3584"/>
            </a:avLst>
          </a:prstGeom>
          <a:solidFill>
            <a:srgbClr val="F5E3D6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30" name="Shape 28"/>
          <p:cNvSpPr/>
          <p:nvPr/>
        </p:nvSpPr>
        <p:spPr>
          <a:xfrm>
            <a:off x="7518400" y="3715990"/>
            <a:ext cx="3860800" cy="2126010"/>
          </a:xfrm>
          <a:custGeom>
            <a:avLst/>
            <a:gdLst/>
            <a:ahLst/>
            <a:cxnLst/>
            <a:rect l="l" t="t" r="r" b="b"/>
            <a:pathLst>
              <a:path w="3860800" h="2126010">
                <a:moveTo>
                  <a:pt x="0" y="76200"/>
                </a:moveTo>
                <a:lnTo>
                  <a:pt x="0" y="76200"/>
                </a:lnTo>
                <a:arcTo wR="76200" hR="76200" stAng="10800000" swAng="5400000"/>
                <a:lnTo>
                  <a:pt x="3784600" y="0"/>
                </a:lnTo>
                <a:arcTo wR="76200" hR="76200" stAng="16200000" swAng="5400000"/>
                <a:lnTo>
                  <a:pt x="3860800" y="76200"/>
                </a:lnTo>
                <a:arcTo wR="76200" hR="25400" stAng="0" swAng="-5400000"/>
                <a:lnTo>
                  <a:pt x="76200" y="50800"/>
                </a:lnTo>
                <a:arcTo wR="76200" hR="25400" stAng="16200000" swAng="-5400000"/>
                <a:close/>
              </a:path>
            </a:pathLst>
          </a:custGeom>
          <a:solidFill>
            <a:srgbClr val="C5703C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31" name="Text 29"/>
          <p:cNvSpPr/>
          <p:nvPr/>
        </p:nvSpPr>
        <p:spPr>
          <a:xfrm>
            <a:off x="7708900" y="3919190"/>
            <a:ext cx="358419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A85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Fontes de receita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7708900" y="4223990"/>
            <a:ext cx="3584194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4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0,50 € + 5 %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7708900" y="4635450"/>
            <a:ext cx="3584194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 compra, pago pelo comprador; </a:t>
            </a:r>
            <a:r>
              <a:rPr lang="en-US" sz="12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vender é grátis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708900" y="5092650"/>
            <a:ext cx="3584194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Extra:</a:t>
            </a: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destaque no mapa · </a:t>
            </a:r>
            <a:r>
              <a:rPr lang="en-US" sz="12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Fase 2:</a:t>
            </a: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GrowNear Pro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12800" y="6238280"/>
            <a:ext cx="91428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D6A4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GrowNear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76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2D6A4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Análise SWOT</a:t>
            </a:r>
            <a:endParaRPr lang="en-US" sz="3200" dirty="0"/>
          </a:p>
        </p:txBody>
      </p:sp>
      <p:pic>
        <p:nvPicPr>
          <p:cNvPr id="3" name="Image 0" descr="Análise SWOT da GrowNear"/>
          <p:cNvPicPr>
            <a:picLocks noChangeAspect="1"/>
          </p:cNvPicPr>
          <p:nvPr/>
        </p:nvPicPr>
        <p:blipFill>
          <a:blip r:embed="rId3"/>
          <a:srcRect t="-41" b="-41"/>
          <a:stretch/>
        </p:blipFill>
        <p:spPr>
          <a:xfrm>
            <a:off x="812800" y="1674465"/>
            <a:ext cx="5207000" cy="3905250"/>
          </a:xfrm>
          <a:prstGeom prst="roundRect">
            <a:avLst>
              <a:gd name="adj" fmla="val 1951"/>
            </a:avLst>
          </a:prstGeom>
        </p:spPr>
      </p:pic>
      <p:sp>
        <p:nvSpPr>
          <p:cNvPr id="4" name="Text 1"/>
          <p:cNvSpPr/>
          <p:nvPr/>
        </p:nvSpPr>
        <p:spPr>
          <a:xfrm>
            <a:off x="6324600" y="1590229"/>
            <a:ext cx="520623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A85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LEITURA ESTRATÉGICA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6324600" y="1892449"/>
            <a:ext cx="5054600" cy="876201"/>
          </a:xfrm>
          <a:prstGeom prst="roundRect">
            <a:avLst>
              <a:gd name="adj" fmla="val 7247"/>
            </a:avLst>
          </a:prstGeom>
          <a:solidFill>
            <a:srgbClr val="FFFDF9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6" name="Shape 3"/>
          <p:cNvSpPr/>
          <p:nvPr/>
        </p:nvSpPr>
        <p:spPr>
          <a:xfrm>
            <a:off x="6324600" y="1892449"/>
            <a:ext cx="5054600" cy="876201"/>
          </a:xfrm>
          <a:custGeom>
            <a:avLst/>
            <a:gdLst/>
            <a:ahLst/>
            <a:cxnLst/>
            <a:rect l="l" t="t" r="r" b="b"/>
            <a:pathLst>
              <a:path w="5054600" h="876201">
                <a:moveTo>
                  <a:pt x="63500" y="876201"/>
                </a:moveTo>
                <a:lnTo>
                  <a:pt x="63500" y="876201"/>
                </a:lnTo>
                <a:arcTo wR="63500" hR="63500" stAng="5400000" swAng="5400000"/>
                <a:lnTo>
                  <a:pt x="0" y="63500"/>
                </a:lnTo>
                <a:arcTo wR="63500" hR="63500" stAng="10800000" swAng="5400000"/>
                <a:lnTo>
                  <a:pt x="63500" y="0"/>
                </a:lnTo>
                <a:arcTo wR="12700" hR="63500" stAng="16200000" swAng="-5400000"/>
                <a:lnTo>
                  <a:pt x="50800" y="812701"/>
                </a:lnTo>
                <a:arcTo wR="12700" hR="63500" stAng="10800000" swAng="-5400000"/>
                <a:close/>
              </a:path>
            </a:pathLst>
          </a:custGeom>
          <a:solidFill>
            <a:srgbClr val="2D6A4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7" name="Text 4"/>
          <p:cNvSpPr/>
          <p:nvPr/>
        </p:nvSpPr>
        <p:spPr>
          <a:xfrm>
            <a:off x="6553200" y="2006749"/>
            <a:ext cx="478764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D6A4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 + O: Atacar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553200" y="2258169"/>
            <a:ext cx="4787646" cy="4215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Marca de proximidade e alertas para quem procura produto local, com o apoio das autarquias.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324600" y="2857550"/>
            <a:ext cx="5054600" cy="876201"/>
          </a:xfrm>
          <a:prstGeom prst="roundRect">
            <a:avLst>
              <a:gd name="adj" fmla="val 7247"/>
            </a:avLst>
          </a:prstGeom>
          <a:solidFill>
            <a:srgbClr val="FFFDF9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0" name="Shape 7"/>
          <p:cNvSpPr/>
          <p:nvPr/>
        </p:nvSpPr>
        <p:spPr>
          <a:xfrm>
            <a:off x="6324600" y="2857550"/>
            <a:ext cx="5054600" cy="876201"/>
          </a:xfrm>
          <a:custGeom>
            <a:avLst/>
            <a:gdLst/>
            <a:ahLst/>
            <a:cxnLst/>
            <a:rect l="l" t="t" r="r" b="b"/>
            <a:pathLst>
              <a:path w="5054600" h="876201">
                <a:moveTo>
                  <a:pt x="63500" y="876201"/>
                </a:moveTo>
                <a:lnTo>
                  <a:pt x="63500" y="876201"/>
                </a:lnTo>
                <a:arcTo wR="63500" hR="63500" stAng="5400000" swAng="5400000"/>
                <a:lnTo>
                  <a:pt x="0" y="63500"/>
                </a:lnTo>
                <a:arcTo wR="63500" hR="63500" stAng="10800000" swAng="5400000"/>
                <a:lnTo>
                  <a:pt x="63500" y="0"/>
                </a:lnTo>
                <a:arcTo wR="12700" hR="63500" stAng="16200000" swAng="-5400000"/>
                <a:lnTo>
                  <a:pt x="50800" y="812701"/>
                </a:lnTo>
                <a:arcTo wR="12700" hR="63500" stAng="10800000" swAng="-5400000"/>
                <a:close/>
              </a:path>
            </a:pathLst>
          </a:custGeom>
          <a:solidFill>
            <a:srgbClr val="74A88C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1" name="Text 8"/>
          <p:cNvSpPr/>
          <p:nvPr/>
        </p:nvSpPr>
        <p:spPr>
          <a:xfrm>
            <a:off x="6553200" y="2971850"/>
            <a:ext cx="478764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3E7A5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 + O: Reforçar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553200" y="3223270"/>
            <a:ext cx="4787646" cy="4215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Parcerias com juntas, cooperativas e restaurantes para compensar a oferta irregular e a pouca experiência.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324600" y="3822650"/>
            <a:ext cx="5054600" cy="876201"/>
          </a:xfrm>
          <a:prstGeom prst="roundRect">
            <a:avLst>
              <a:gd name="adj" fmla="val 7247"/>
            </a:avLst>
          </a:prstGeom>
          <a:solidFill>
            <a:srgbClr val="FFFDF9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4" name="Shape 11"/>
          <p:cNvSpPr/>
          <p:nvPr/>
        </p:nvSpPr>
        <p:spPr>
          <a:xfrm>
            <a:off x="6324600" y="3822650"/>
            <a:ext cx="5054600" cy="876201"/>
          </a:xfrm>
          <a:custGeom>
            <a:avLst/>
            <a:gdLst/>
            <a:ahLst/>
            <a:cxnLst/>
            <a:rect l="l" t="t" r="r" b="b"/>
            <a:pathLst>
              <a:path w="5054600" h="876201">
                <a:moveTo>
                  <a:pt x="63500" y="876201"/>
                </a:moveTo>
                <a:lnTo>
                  <a:pt x="63500" y="876201"/>
                </a:lnTo>
                <a:arcTo wR="63500" hR="63500" stAng="5400000" swAng="5400000"/>
                <a:lnTo>
                  <a:pt x="0" y="63500"/>
                </a:lnTo>
                <a:arcTo wR="63500" hR="63500" stAng="10800000" swAng="5400000"/>
                <a:lnTo>
                  <a:pt x="63500" y="0"/>
                </a:lnTo>
                <a:arcTo wR="12700" hR="63500" stAng="16200000" swAng="-5400000"/>
                <a:lnTo>
                  <a:pt x="50800" y="812701"/>
                </a:lnTo>
                <a:arcTo wR="12700" hR="63500" stAng="10800000" swAng="-5400000"/>
                <a:close/>
              </a:path>
            </a:pathLst>
          </a:custGeom>
          <a:solidFill>
            <a:srgbClr val="C5703C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5" name="Text 12"/>
          <p:cNvSpPr/>
          <p:nvPr/>
        </p:nvSpPr>
        <p:spPr>
          <a:xfrm>
            <a:off x="6553200" y="3936950"/>
            <a:ext cx="478764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A85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 + T: Defender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553200" y="4188371"/>
            <a:ext cx="4787646" cy="4215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Pagamento seguro e avaliações como vantagem face ao OLX e ao Facebook, que são grátis.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324600" y="4787751"/>
            <a:ext cx="5054600" cy="876201"/>
          </a:xfrm>
          <a:prstGeom prst="roundRect">
            <a:avLst>
              <a:gd name="adj" fmla="val 7247"/>
            </a:avLst>
          </a:prstGeom>
          <a:solidFill>
            <a:srgbClr val="FFFDF9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8" name="Shape 15"/>
          <p:cNvSpPr/>
          <p:nvPr/>
        </p:nvSpPr>
        <p:spPr>
          <a:xfrm>
            <a:off x="6324600" y="4787751"/>
            <a:ext cx="5054600" cy="876201"/>
          </a:xfrm>
          <a:custGeom>
            <a:avLst/>
            <a:gdLst/>
            <a:ahLst/>
            <a:cxnLst/>
            <a:rect l="l" t="t" r="r" b="b"/>
            <a:pathLst>
              <a:path w="5054600" h="876201">
                <a:moveTo>
                  <a:pt x="63500" y="876201"/>
                </a:moveTo>
                <a:lnTo>
                  <a:pt x="63500" y="876201"/>
                </a:lnTo>
                <a:arcTo wR="63500" hR="63500" stAng="5400000" swAng="5400000"/>
                <a:lnTo>
                  <a:pt x="0" y="63500"/>
                </a:lnTo>
                <a:arcTo wR="63500" hR="63500" stAng="10800000" swAng="5400000"/>
                <a:lnTo>
                  <a:pt x="63500" y="0"/>
                </a:lnTo>
                <a:arcTo wR="12700" hR="63500" stAng="16200000" swAng="-5400000"/>
                <a:lnTo>
                  <a:pt x="50800" y="812701"/>
                </a:lnTo>
                <a:arcTo wR="12700" hR="63500" stAng="10800000" swAng="-5400000"/>
                <a:close/>
              </a:path>
            </a:pathLst>
          </a:custGeom>
          <a:solidFill>
            <a:srgbClr val="8C3F1C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9" name="Text 16"/>
          <p:cNvSpPr/>
          <p:nvPr/>
        </p:nvSpPr>
        <p:spPr>
          <a:xfrm>
            <a:off x="6553200" y="4902051"/>
            <a:ext cx="478764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8C3F1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 + T: Prevenir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6553200" y="5153471"/>
            <a:ext cx="4787646" cy="4215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Regras de segurança alimentar e moderação para proteger a marca; crescer zona a zona.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12800" y="6238280"/>
            <a:ext cx="91428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D6A4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GrowNear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76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2D6A4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Estudo de mercado: Objetivos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12800" y="1488430"/>
            <a:ext cx="10566400" cy="1280120"/>
          </a:xfrm>
          <a:prstGeom prst="roundRect">
            <a:avLst>
              <a:gd name="adj" fmla="val 5953"/>
            </a:avLst>
          </a:prstGeom>
          <a:solidFill>
            <a:srgbClr val="2D6A4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4" name="Text 2"/>
          <p:cNvSpPr/>
          <p:nvPr/>
        </p:nvSpPr>
        <p:spPr>
          <a:xfrm>
            <a:off x="1117600" y="1717030"/>
            <a:ext cx="1025550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E9A9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OBJETIVO GERAL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17600" y="2006550"/>
            <a:ext cx="10255504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FFFD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Identificar os segmentos de compradores com maior interesse em comprar produtos locais a pequenos produtores através de uma app como a GrowNear, e as condições em que o fariam.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12800" y="2997150"/>
            <a:ext cx="5283200" cy="711200"/>
          </a:xfrm>
          <a:prstGeom prst="roundRect">
            <a:avLst>
              <a:gd name="adj" fmla="val 8929"/>
            </a:avLst>
          </a:prstGeom>
          <a:solidFill>
            <a:srgbClr val="FFFDF9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7" name="Text 5"/>
          <p:cNvSpPr/>
          <p:nvPr/>
        </p:nvSpPr>
        <p:spPr>
          <a:xfrm>
            <a:off x="965200" y="3228280"/>
            <a:ext cx="5080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C57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OE1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549400" y="3237161"/>
            <a:ext cx="1864757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Perfil dos inquiridos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096000" y="2997150"/>
            <a:ext cx="5283200" cy="711200"/>
          </a:xfrm>
          <a:prstGeom prst="roundRect">
            <a:avLst>
              <a:gd name="adj" fmla="val 8929"/>
            </a:avLst>
          </a:prstGeom>
          <a:solidFill>
            <a:srgbClr val="FFFDF9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0" name="Text 8"/>
          <p:cNvSpPr/>
          <p:nvPr/>
        </p:nvSpPr>
        <p:spPr>
          <a:xfrm>
            <a:off x="6248400" y="3228280"/>
            <a:ext cx="5080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C57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OE5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32600" y="3237161"/>
            <a:ext cx="4494848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Fatores mais importantes na decisão de compra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2800" y="3708350"/>
            <a:ext cx="5283200" cy="711200"/>
          </a:xfrm>
          <a:prstGeom prst="roundRect">
            <a:avLst>
              <a:gd name="adj" fmla="val 8929"/>
            </a:avLst>
          </a:prstGeom>
          <a:solidFill>
            <a:srgbClr val="FFFDF9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3" name="Text 11"/>
          <p:cNvSpPr/>
          <p:nvPr/>
        </p:nvSpPr>
        <p:spPr>
          <a:xfrm>
            <a:off x="965200" y="3939480"/>
            <a:ext cx="5080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C57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OE2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549400" y="3948361"/>
            <a:ext cx="3692604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Hábitos de compra de frutas e legumes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96000" y="3708350"/>
            <a:ext cx="5283200" cy="711200"/>
          </a:xfrm>
          <a:prstGeom prst="roundRect">
            <a:avLst>
              <a:gd name="adj" fmla="val 8929"/>
            </a:avLst>
          </a:prstGeom>
          <a:solidFill>
            <a:srgbClr val="FFFDF9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6" name="Text 14"/>
          <p:cNvSpPr/>
          <p:nvPr/>
        </p:nvSpPr>
        <p:spPr>
          <a:xfrm>
            <a:off x="6248400" y="3939480"/>
            <a:ext cx="5080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C57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OE6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832600" y="3948361"/>
            <a:ext cx="3947458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Aceitação do pagamento na app e da taxa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12800" y="4419550"/>
            <a:ext cx="5283200" cy="711200"/>
          </a:xfrm>
          <a:prstGeom prst="roundRect">
            <a:avLst>
              <a:gd name="adj" fmla="val 8929"/>
            </a:avLst>
          </a:prstGeom>
          <a:solidFill>
            <a:srgbClr val="FFFDF9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9" name="Text 17"/>
          <p:cNvSpPr/>
          <p:nvPr/>
        </p:nvSpPr>
        <p:spPr>
          <a:xfrm>
            <a:off x="965200" y="4650680"/>
            <a:ext cx="5080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C57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OE3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549400" y="4659561"/>
            <a:ext cx="3225105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Interesse e intenção de usar a app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096000" y="4419550"/>
            <a:ext cx="5283200" cy="711200"/>
          </a:xfrm>
          <a:prstGeom prst="roundRect">
            <a:avLst>
              <a:gd name="adj" fmla="val 8929"/>
            </a:avLst>
          </a:prstGeom>
          <a:solidFill>
            <a:srgbClr val="FFFDF9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22" name="Text 20"/>
          <p:cNvSpPr/>
          <p:nvPr/>
        </p:nvSpPr>
        <p:spPr>
          <a:xfrm>
            <a:off x="6248400" y="4650680"/>
            <a:ext cx="5080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C57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OE7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832600" y="4659561"/>
            <a:ext cx="343537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Segmentos prioritários (cruzamento)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12800" y="5130750"/>
            <a:ext cx="5283200" cy="711250"/>
          </a:xfrm>
          <a:prstGeom prst="roundRect">
            <a:avLst>
              <a:gd name="adj" fmla="val 8928"/>
            </a:avLst>
          </a:prstGeom>
          <a:solidFill>
            <a:srgbClr val="FFFDF9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25" name="Text 23"/>
          <p:cNvSpPr/>
          <p:nvPr/>
        </p:nvSpPr>
        <p:spPr>
          <a:xfrm>
            <a:off x="965200" y="5361930"/>
            <a:ext cx="5080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C57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OE4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549400" y="5370810"/>
            <a:ext cx="4364474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Disposição para se deslocar (tempo e recolha)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096000" y="5130750"/>
            <a:ext cx="5283200" cy="711250"/>
          </a:xfrm>
          <a:prstGeom prst="roundRect">
            <a:avLst>
              <a:gd name="adj" fmla="val 8928"/>
            </a:avLst>
          </a:prstGeom>
          <a:solidFill>
            <a:srgbClr val="FFFDF9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28" name="Text 26"/>
          <p:cNvSpPr/>
          <p:nvPr/>
        </p:nvSpPr>
        <p:spPr>
          <a:xfrm>
            <a:off x="6248400" y="5361930"/>
            <a:ext cx="5080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C57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OE8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832600" y="5370810"/>
            <a:ext cx="4241125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Aceitação de oferta limitada à época e região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12800" y="6238280"/>
            <a:ext cx="91428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D6A4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GrowNear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76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2D6A4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Inquérito por questionário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12800" y="1513830"/>
            <a:ext cx="3302000" cy="2418209"/>
          </a:xfrm>
          <a:prstGeom prst="roundRect">
            <a:avLst>
              <a:gd name="adj" fmla="val 3151"/>
            </a:avLst>
          </a:prstGeom>
          <a:solidFill>
            <a:srgbClr val="C5703C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4" name="Text 2"/>
          <p:cNvSpPr/>
          <p:nvPr/>
        </p:nvSpPr>
        <p:spPr>
          <a:xfrm>
            <a:off x="1041400" y="2280989"/>
            <a:ext cx="2930144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00"/>
              </a:lnSpc>
              <a:buNone/>
            </a:pPr>
            <a:r>
              <a:rPr lang="en-US" sz="4800" b="1" dirty="0">
                <a:solidFill>
                  <a:srgbClr val="FFFD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114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041400" y="2915989"/>
            <a:ext cx="2930144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FFD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respostas obtidas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12800" y="4059039"/>
            <a:ext cx="3302000" cy="827980"/>
          </a:xfrm>
          <a:prstGeom prst="roundRect">
            <a:avLst>
              <a:gd name="adj" fmla="val 9203"/>
            </a:avLst>
          </a:prstGeom>
          <a:solidFill>
            <a:srgbClr val="FFFDF9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7" name="Text 5"/>
          <p:cNvSpPr/>
          <p:nvPr/>
        </p:nvSpPr>
        <p:spPr>
          <a:xfrm>
            <a:off x="1041400" y="4211439"/>
            <a:ext cx="293014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D6A4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PERÍODO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41400" y="4450159"/>
            <a:ext cx="2930144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a 11 out. 2026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12800" y="5014020"/>
            <a:ext cx="3302000" cy="827980"/>
          </a:xfrm>
          <a:prstGeom prst="roundRect">
            <a:avLst>
              <a:gd name="adj" fmla="val 9203"/>
            </a:avLst>
          </a:prstGeom>
          <a:solidFill>
            <a:srgbClr val="FFFDF9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0" name="Text 8"/>
          <p:cNvSpPr/>
          <p:nvPr/>
        </p:nvSpPr>
        <p:spPr>
          <a:xfrm>
            <a:off x="1041400" y="5166420"/>
            <a:ext cx="293014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D6A4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FERRAMENTA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41400" y="5405140"/>
            <a:ext cx="2930144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Google Forms</a:t>
            </a:r>
            <a:endParaRPr lang="en-US" sz="1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83100" y="1526530"/>
          <a:ext cx="6896100" cy="2865040"/>
        </p:xfrm>
        <a:graphic>
          <a:graphicData uri="http://schemas.openxmlformats.org/drawingml/2006/table">
            <a:tbl>
              <a:tblPr/>
              <a:tblGrid>
                <a:gridCol w="2298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98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987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8130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FFDF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Secção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27000" marR="127000" marT="57150" marB="57150">
                    <a:lnL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4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4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1D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FFDF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Tema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27000" marR="127000" marT="57150" marB="57150">
                    <a:lnL w="12700" cap="flat" cmpd="sng" algn="ctr">
                      <a:solidFill>
                        <a:srgbClr val="B7B4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4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4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1D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FFDF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Perguntas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27000" marR="127000" marT="57150" marB="57150">
                    <a:lnL w="12700" cap="flat" cmpd="sng" algn="ctr">
                      <a:solidFill>
                        <a:srgbClr val="B7B4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4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4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1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8130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A85A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27000" marR="127000" marT="57150" marB="57150">
                    <a:lnL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4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E2B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Hábitos de compra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27000" marR="127000" marT="57150" marB="57150">
                    <a:lnL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4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E2B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P1–P7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27000" marR="127000" marT="57150" marB="57150">
                    <a:lnL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4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8130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A85A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27000" marR="127000" marT="57150" marB="57150">
                    <a:lnL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E2B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Critérios de compra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27000" marR="127000" marT="57150" marB="57150">
                    <a:lnL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E2B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P8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27000" marR="127000" marT="57150" marB="57150">
                    <a:lnL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8130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A85A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27000" marR="127000" marT="57150" marB="57150">
                    <a:lnL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E2B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Recolha e deslocação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27000" marR="127000" marT="57150" marB="57150">
                    <a:lnL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E2B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P9–P11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27000" marR="127000" marT="57150" marB="57150">
                    <a:lnL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8130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A85A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27000" marR="127000" marT="57150" marB="57150">
                    <a:lnL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E2B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Pagamento e taxa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27000" marR="127000" marT="57150" marB="57150">
                    <a:lnL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E2B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P12–P16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27000" marR="127000" marT="57150" marB="57150">
                    <a:lnL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8130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A85A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27000" marR="127000" marT="57150" marB="57150">
                    <a:lnL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E2B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Produtos da época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27000" marR="127000" marT="57150" marB="57150">
                    <a:lnL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E2B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P17–P18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27000" marR="127000" marT="57150" marB="57150">
                    <a:lnL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8130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A85A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27000" marR="127000" marT="57150" marB="57150">
                    <a:lnL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E2B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Interesse na app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27000" marR="127000" marT="57150" marB="57150">
                    <a:lnL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E2B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P19–P22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27000" marR="127000" marT="57150" marB="57150">
                    <a:lnL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8130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A85A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27000" marR="127000" marT="57150" marB="57150">
                    <a:lnL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E2B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Perfil dos inquiridos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27000" marR="127000" marT="57150" marB="57150">
                    <a:lnL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E2B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P23–P29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27000" marR="127000" marT="57150" marB="57150">
                    <a:lnL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4470400" y="4518571"/>
            <a:ext cx="7116064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D6A4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 perguntas fechadas · ~6 minutos · sem perguntas abertas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12800" y="6238280"/>
            <a:ext cx="91428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D6A4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GrowNear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76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D6A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66000" y="2032000"/>
            <a:ext cx="4826000" cy="4826000"/>
          </a:xfrm>
          <a:prstGeom prst="roundRect">
            <a:avLst>
              <a:gd name="adj" fmla="val 33684"/>
            </a:avLst>
          </a:prstGeom>
          <a:solidFill>
            <a:srgbClr val="346F54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3" name="Shape 1"/>
          <p:cNvSpPr/>
          <p:nvPr/>
        </p:nvSpPr>
        <p:spPr>
          <a:xfrm>
            <a:off x="10160000" y="1143000"/>
            <a:ext cx="1016000" cy="1016000"/>
          </a:xfrm>
          <a:prstGeom prst="roundRect">
            <a:avLst>
              <a:gd name="adj" fmla="val 50000"/>
            </a:avLst>
          </a:prstGeom>
          <a:solidFill>
            <a:srgbClr val="C5703C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4" name="Text 2"/>
          <p:cNvSpPr>
            <a:spLocks noGrp="1"/>
          </p:cNvSpPr>
          <p:nvPr>
            <p:ph type="title"/>
          </p:nvPr>
        </p:nvSpPr>
        <p:spPr>
          <a:xfrm>
            <a:off x="812800" y="2115840"/>
            <a:ext cx="10883392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8000"/>
              </a:lnSpc>
              <a:buNone/>
            </a:pPr>
            <a:r>
              <a:rPr lang="en-US" sz="8000" b="1" i="0" kern="0" spc="-200" dirty="0">
                <a:solidFill>
                  <a:srgbClr val="FFFD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Obrigado!</a:t>
            </a:r>
            <a:endParaRPr lang="en-US" sz="8000" dirty="0"/>
          </a:p>
        </p:txBody>
      </p:sp>
      <p:sp>
        <p:nvSpPr>
          <p:cNvPr id="5" name="Shape 3"/>
          <p:cNvSpPr/>
          <p:nvPr/>
        </p:nvSpPr>
        <p:spPr>
          <a:xfrm>
            <a:off x="812800" y="3335040"/>
            <a:ext cx="1016000" cy="50800"/>
          </a:xfrm>
          <a:prstGeom prst="roundRect">
            <a:avLst>
              <a:gd name="adj" fmla="val 50000"/>
            </a:avLst>
          </a:prstGeom>
          <a:solidFill>
            <a:srgbClr val="C5703C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812800" y="3589040"/>
            <a:ext cx="10883392" cy="4520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FFFD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Prontos para as questões.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12800" y="4218930"/>
            <a:ext cx="1088339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i="1" dirty="0">
                <a:solidFill>
                  <a:srgbClr val="F3E2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GrowNear — “Do quintal para a mesa do vizinho”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12800" y="6238280"/>
            <a:ext cx="91428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CFE3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GrowNear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CFE3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rowNear — Momento 1">
  <a:themeElements>
    <a:clrScheme name="GrowNear — Momento 1">
      <a:dk1>
        <a:srgbClr val="2D6A4F"/>
      </a:dk1>
      <a:lt1>
        <a:srgbClr val="F7F3EC"/>
      </a:lt1>
      <a:dk2>
        <a:srgbClr val="608C76"/>
      </a:dk2>
      <a:lt2>
        <a:srgbClr val="E3E5DC"/>
      </a:lt2>
      <a:accent1>
        <a:srgbClr val="C5703C"/>
      </a:accent1>
      <a:accent2>
        <a:srgbClr val="A85A2A"/>
      </a:accent2>
      <a:accent3>
        <a:srgbClr val="E9A97E"/>
      </a:accent3>
      <a:accent4>
        <a:srgbClr val="4F8A6E"/>
      </a:accent4>
      <a:accent5>
        <a:srgbClr val="F3D2BC"/>
      </a:accent5>
      <a:accent6>
        <a:srgbClr val="8C3F1C"/>
      </a:accent6>
      <a:hlink>
        <a:srgbClr val="0563C1"/>
      </a:hlink>
      <a:folHlink>
        <a:srgbClr val="954F72"/>
      </a:folHlink>
    </a:clrScheme>
    <a:fontScheme name="GrowNear — Momento 1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1389</Words>
  <Application>Microsoft Office PowerPoint</Application>
  <PresentationFormat>Ecrã Panorâmico</PresentationFormat>
  <Paragraphs>180</Paragraphs>
  <Slides>9</Slides>
  <Notes>9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9</vt:i4>
      </vt:variant>
    </vt:vector>
  </HeadingPairs>
  <TitlesOfParts>
    <vt:vector size="12" baseType="lpstr">
      <vt:lpstr>Arial</vt:lpstr>
      <vt:lpstr>Inter</vt:lpstr>
      <vt:lpstr>GrowNear — Momento 1</vt:lpstr>
      <vt:lpstr>GrowNear</vt:lpstr>
      <vt:lpstr>Ideia de negócio</vt:lpstr>
      <vt:lpstr>Proposta de valor</vt:lpstr>
      <vt:lpstr>Business Model Canvas</vt:lpstr>
      <vt:lpstr>Business Model Canvas</vt:lpstr>
      <vt:lpstr>Análise SWOT</vt:lpstr>
      <vt:lpstr>Estudo de mercado: Objetivos</vt:lpstr>
      <vt:lpstr>Inquérito por questionário</vt:lpstr>
      <vt:lpstr>Obrigado!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GrowNear — Momento 1</dc:title>
  <dc:subject/>
  <dc:creator/>
  <cp:lastModifiedBy>Luis Santos</cp:lastModifiedBy>
  <cp:revision>2</cp:revision>
  <dcterms:created xsi:type="dcterms:W3CDTF">2026-10-15T18:17:14Z</dcterms:created>
  <dcterms:modified xsi:type="dcterms:W3CDTF">2026-10-15T18:20:18Z</dcterms:modified>
</cp:coreProperties>
</file>