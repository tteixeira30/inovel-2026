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0896" autoAdjust="0"/>
  </p:normalViewPr>
  <p:slideViewPr>
    <p:cSldViewPr snapToGrid="0" snapToObjects="1">
      <p:cViewPr varScale="1">
        <p:scale>
          <a:sx n="50" d="100"/>
          <a:sy n="50" d="100"/>
        </p:scale>
        <p:origin x="1906" y="3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088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nome e a frase: a GrowNear leva o que sobra no quintal até à mesa do vizinho. Apresentar o grupo rapidamente.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lados com o mesmo problema: quem produz de mais e quem quer comprar fresco e perto. A GrowNear junta-os num mapa, com reserva na app e recolha local, sem logística de entregas.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de valor, com dois públicos. Para pequenos produtores com excedentes da horta, do pomar, do galinheiro ou das colmeias, que não conseguem escoar pequenas quantidades sem burocracia nem intermediários, e para compradores da zona que querem produtos frescos, de origem conhecida, perto de casa. A GrowNear é uma app marketplace local, com descoberta por mapa, que liga vizinhos: o comprador encontra o que há perto, reserva na app e recolhe em casa do produtor ou num ponto de recolha. Ao contrário de feiras e mercados, lojas biológicas e anúncios online genéricos, focamo-nos nos excedentes de quem não vive da produção, com alertas “avisem-me” para os produtos da época. O comprador paga menos do que numa loja biológica e sabe de onde vem o que 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Passamos ao Business </a:t>
            </a:r>
            <a:r>
              <a:rPr lang="pt-PT" dirty="0" err="1"/>
              <a:t>Model</a:t>
            </a:r>
            <a:r>
              <a:rPr lang="pt-PT" dirty="0"/>
              <a:t> </a:t>
            </a:r>
            <a:r>
              <a:rPr lang="pt-PT" dirty="0" err="1"/>
              <a:t>Canvas</a:t>
            </a:r>
            <a:r>
              <a:rPr lang="pt-PT" dirty="0"/>
              <a:t>, começando pelo </a:t>
            </a:r>
            <a:r>
              <a:rPr lang="pt-PT" dirty="0" err="1"/>
              <a:t>front</a:t>
            </a:r>
            <a:r>
              <a:rPr lang="pt-PT" dirty="0"/>
              <a:t> </a:t>
            </a:r>
            <a:r>
              <a:rPr lang="pt-PT" dirty="0" err="1"/>
              <a:t>stage</a:t>
            </a:r>
            <a:r>
              <a:rPr lang="pt-PT" dirty="0"/>
              <a:t>, o que o cliente vê. </a:t>
            </a:r>
            <a:br>
              <a:rPr lang="pt-PT" dirty="0"/>
            </a:br>
            <a:r>
              <a:rPr lang="pt-PT" dirty="0"/>
              <a:t>Para corresponder a nossa Proposta de Valor temos dois públicos que precisam um do outro. </a:t>
            </a:r>
            <a:br>
              <a:rPr lang="pt-PT" dirty="0"/>
            </a:br>
            <a:r>
              <a:rPr lang="pt-PT" dirty="0"/>
              <a:t>Os vendedores são prioritários, porque sem oferta não há compradores e o os compradores.</a:t>
            </a:r>
            <a:br>
              <a:rPr lang="pt-PT" dirty="0"/>
            </a:br>
            <a:r>
              <a:rPr lang="pt-PT" dirty="0"/>
              <a:t>Para nos relacionarmos com estes contamos com autosserviço na app com avaliações, numa fase inicial com a ajuda presencial aos primeiros produtores e consideramos um programa 'convida o vizinho' onde convidar um utilizador novo daria saldo para gastar</a:t>
            </a:r>
            <a:br>
              <a:rPr lang="pt-PT" dirty="0"/>
            </a:br>
            <a:r>
              <a:rPr lang="pt-PT" dirty="0"/>
              <a:t>Para nos darmos a conhecer as juntas, feiras e redes sociais serão essenciais. </a:t>
            </a:r>
            <a:br>
              <a:rPr lang="pt-PT" dirty="0"/>
            </a:br>
            <a:r>
              <a:rPr lang="pt-PT" dirty="0"/>
              <a:t>Compra-se na app e recolhe-se no produtor ou noutro ponto qualquer.</a:t>
            </a:r>
            <a:br>
              <a:rPr lang="pt-PT" dirty="0"/>
            </a:br>
            <a:br>
              <a:rPr lang="pt-PT" dirty="0"/>
            </a:br>
            <a:r>
              <a:rPr lang="pt-PT" dirty="0"/>
              <a:t>O comprador paga 0,50 € mais 5 %, ou seja, 1 € numa compra de 10 €. Vender é grátis.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No </a:t>
            </a:r>
            <a:r>
              <a:rPr lang="pt-PT" dirty="0" err="1"/>
              <a:t>back</a:t>
            </a:r>
            <a:r>
              <a:rPr lang="pt-PT" dirty="0"/>
              <a:t> </a:t>
            </a:r>
            <a:r>
              <a:rPr lang="pt-PT" dirty="0" err="1"/>
              <a:t>stage</a:t>
            </a:r>
            <a:r>
              <a:rPr lang="pt-PT" dirty="0"/>
              <a:t>, o que sustenta tudo isto</a:t>
            </a:r>
            <a:br>
              <a:rPr lang="pt-PT" dirty="0"/>
            </a:br>
            <a:r>
              <a:rPr lang="pt-PT" dirty="0"/>
              <a:t>Teremos </a:t>
            </a:r>
            <a:r>
              <a:rPr lang="pt-PT" dirty="0" err="1"/>
              <a:t>Stripe</a:t>
            </a:r>
            <a:r>
              <a:rPr lang="pt-PT" dirty="0"/>
              <a:t> e MB </a:t>
            </a:r>
            <a:r>
              <a:rPr lang="pt-PT" dirty="0" err="1"/>
              <a:t>Way</a:t>
            </a:r>
            <a:r>
              <a:rPr lang="pt-PT" dirty="0"/>
              <a:t> para os pagamentos, juntas e cooperativas para chegar aos produtores, e cafés como pontos de recolha.</a:t>
            </a:r>
            <a:br>
              <a:rPr lang="pt-PT" dirty="0"/>
            </a:br>
            <a:r>
              <a:rPr lang="pt-PT" dirty="0"/>
              <a:t>As nossas principais atividades para além da manutenção da app é captar oferta zona a zona e gerir a confiança, enquanto garantindo a conformidade com a parte fiscal</a:t>
            </a:r>
            <a:br>
              <a:rPr lang="pt-PT" dirty="0"/>
            </a:br>
            <a:r>
              <a:rPr lang="pt-PT" dirty="0"/>
              <a:t>O nosso recurso mais valioso é a rede </a:t>
            </a:r>
            <a:r>
              <a:rPr lang="pt-PT"/>
              <a:t>de utilizadores</a:t>
            </a:r>
            <a:br>
              <a:rPr lang="pt-PT"/>
            </a:br>
            <a:r>
              <a:rPr lang="pt-PT"/>
              <a:t>É </a:t>
            </a:r>
            <a:r>
              <a:rPr lang="pt-PT" dirty="0"/>
              <a:t>uma operação leve pois não temos stock, nem fazemos entregas e temos apenas os custos de manutenção da app e trabalhadores.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a SWOT: em cima o interno, em baixo o externo. À direita, o que fazemos com ela. Atacar: usar a marca de proximidade e os alertas para chegar a quem procura produto local, com apoio das autarquias. Reforçar: parcerias para compensar a oferta sazonal e a nossa pouca experiência no setor. Defender: o pagamento seguro e as avaliações são a nossa resposta às alternativas grátis. Prevenir: regras de segurança alimentar e moderação, porque um caso de intoxicação afetaria a marca.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perceber quem tem mais interesse e em que condições. Os oito </a:t>
            </a:r>
            <a:r>
              <a:rPr lang="en-US" dirty="0" err="1"/>
              <a:t>objetivos</a:t>
            </a:r>
            <a:r>
              <a:rPr lang="en-US" dirty="0"/>
              <a:t> específicos cobrem perfil, hábitos, interesse, deslocação, critérios de decisão, pagamento e taxa, segmentos prioritários (cruzamento dos restantes) e aceitação da sazonalidade.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Questionário no Google Forms, aberto de 8 a 11 de outubro, com 114 respostas. Sete secções e 29 perguntas fechadas, cerca de 6 minutos. O perfil fica no fim para não cansar o inquirido logo no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6000" y="0"/>
            <a:ext cx="4826000" cy="4826000"/>
          </a:xfrm>
          <a:prstGeom prst="roundRect">
            <a:avLst>
              <a:gd name="adj" fmla="val 33684"/>
            </a:avLst>
          </a:prstGeom>
          <a:solidFill>
            <a:srgbClr val="346F54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10033000" y="1905000"/>
            <a:ext cx="1397000" cy="13970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812800" y="8128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ISEP, INOVEL 2026/2027, MOMENTO 1</a:t>
            </a:r>
            <a:endParaRPr lang="en-US" sz="14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812800" y="2091730"/>
            <a:ext cx="10883392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0"/>
              </a:lnSpc>
              <a:buNone/>
            </a:pPr>
            <a:r>
              <a:rPr lang="en-US" sz="9000" b="1" i="0" kern="0" spc="-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812800" y="338713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812800" y="3590330"/>
            <a:ext cx="10883392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i="1" dirty="0">
                <a:solidFill>
                  <a:srgbClr val="F3E2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quintal para a mesa do vizinho”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12800" y="50825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GRUPO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5346700"/>
            <a:ext cx="10883392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Bruno Lopes 1240441, Tiago Teixeira 1240493, Francisco Peixoto 1211648,</a:t>
            </a:r>
            <a:endParaRPr lang="en-US" sz="1300" dirty="0"/>
          </a:p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António Guerra 1190409, Luis Santos 1250534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Ideia de negócio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64630"/>
            <a:ext cx="47207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12800" y="1904950"/>
            <a:ext cx="4583261" cy="19050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812800" y="1904950"/>
            <a:ext cx="4583261" cy="1905000"/>
          </a:xfrm>
          <a:custGeom>
            <a:avLst/>
            <a:gdLst/>
            <a:ahLst/>
            <a:cxnLst/>
            <a:rect l="l" t="t" r="r" b="b"/>
            <a:pathLst>
              <a:path w="4583261" h="1905000">
                <a:moveTo>
                  <a:pt x="76200" y="1905000"/>
                </a:moveTo>
                <a:lnTo>
                  <a:pt x="76200" y="1905000"/>
                </a:lnTo>
                <a:arcTo wR="76200" hR="76200" stAng="5400000" swAng="5400000"/>
                <a:lnTo>
                  <a:pt x="0" y="76200"/>
                </a:lnTo>
                <a:arcTo wR="76200" hR="76200" stAng="10800000" swAng="5400000"/>
                <a:lnTo>
                  <a:pt x="76200" y="0"/>
                </a:lnTo>
                <a:arcTo wR="25400" hR="76200" stAng="16200000" swAng="-5400000"/>
                <a:lnTo>
                  <a:pt x="50800" y="1828800"/>
                </a:lnTo>
                <a:arcTo wR="25400" hR="762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1117600" y="2454870"/>
            <a:ext cx="4145195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Colheitas desperdiçadas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17600" y="2779961"/>
            <a:ext cx="414519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4E5B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Produtores com excedentes que não têm onde os escoar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936950"/>
            <a:ext cx="4583261" cy="190505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812800" y="3936950"/>
            <a:ext cx="4583261" cy="1905050"/>
          </a:xfrm>
          <a:custGeom>
            <a:avLst/>
            <a:gdLst/>
            <a:ahLst/>
            <a:cxnLst/>
            <a:rect l="l" t="t" r="r" b="b"/>
            <a:pathLst>
              <a:path w="4583261" h="1905050">
                <a:moveTo>
                  <a:pt x="76200" y="1905050"/>
                </a:moveTo>
                <a:lnTo>
                  <a:pt x="76200" y="1905050"/>
                </a:lnTo>
                <a:arcTo wR="76200" hR="76200" stAng="5400000" swAng="5400000"/>
                <a:lnTo>
                  <a:pt x="0" y="76200"/>
                </a:lnTo>
                <a:arcTo wR="76200" hR="76200" stAng="10800000" swAng="5400000"/>
                <a:lnTo>
                  <a:pt x="76200" y="0"/>
                </a:lnTo>
                <a:arcTo wR="25400" hR="76200" stAng="16200000" swAng="-5400000"/>
                <a:lnTo>
                  <a:pt x="50800" y="1828850"/>
                </a:lnTo>
                <a:arcTo wR="25400" hR="762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117600" y="4486920"/>
            <a:ext cx="4145195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Frescos difíceis de encontrar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7600" y="4812010"/>
            <a:ext cx="414519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4E5B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 sem acesso fácil a produtos frescos e locais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50061" y="1564630"/>
            <a:ext cx="590101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SOLUÇÃO — GROWNEAR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50061" y="1904950"/>
            <a:ext cx="5729139" cy="3937050"/>
          </a:xfrm>
          <a:prstGeom prst="roundRect">
            <a:avLst>
              <a:gd name="adj" fmla="val 1935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005661" y="2610793"/>
            <a:ext cx="5168477" cy="899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marketplace que liga </a:t>
            </a:r>
            <a:r>
              <a:rPr lang="en-US" sz="17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produtores não </a:t>
            </a:r>
            <a:r>
              <a:rPr lang="en-US" sz="1700" b="1" dirty="0" err="1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profissionais</a:t>
            </a:r>
            <a:r>
              <a:rPr lang="en-US" sz="17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Horta, pomar, galinheiro, colmeia — a </a:t>
            </a:r>
            <a:r>
              <a:rPr lang="en-US" sz="17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 vizinhos</a:t>
            </a:r>
            <a:r>
              <a:rPr lang="en-US" sz="17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05661" y="3688358"/>
            <a:ext cx="5017939" cy="12700"/>
          </a:xfrm>
          <a:prstGeom prst="rect">
            <a:avLst/>
          </a:prstGeom>
          <a:solidFill>
            <a:srgbClr val="4F8A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005661" y="3904258"/>
            <a:ext cx="162917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E9A9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270179" y="3904258"/>
            <a:ext cx="5109021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comprador vê num </a:t>
            </a: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</a:t>
            </a: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que há perto de si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05661" y="4364633"/>
            <a:ext cx="123428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E9A9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30689" y="4364633"/>
            <a:ext cx="4936698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 na app</a:t>
            </a: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recolhe em casa do produtor ou num ponto de recolha (café, mercearia) — sem entrega ao domicílio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4174986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Proposta de valor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64929" y="975370"/>
            <a:ext cx="3214271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i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“Colhido hoje. Perto de si.”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12800" y="1463030"/>
            <a:ext cx="1397000" cy="571103"/>
          </a:xfrm>
          <a:prstGeom prst="roundRect">
            <a:avLst>
              <a:gd name="adj" fmla="val 11119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311400" y="1463030"/>
            <a:ext cx="9067800" cy="571103"/>
          </a:xfrm>
          <a:prstGeom prst="roundRect">
            <a:avLst>
              <a:gd name="adj" fmla="val 11119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pequenos produtores com excedentes e compradores da zona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097633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311400" y="2097633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conseguem escoar pequenas quantidades ou querem frescos perto de casa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2800" y="2732286"/>
            <a:ext cx="1397000" cy="571103"/>
          </a:xfrm>
          <a:prstGeom prst="roundRect">
            <a:avLst>
              <a:gd name="adj" fmla="val 11119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11400" y="2732286"/>
            <a:ext cx="9067800" cy="571103"/>
          </a:xfrm>
          <a:prstGeom prst="roundRect">
            <a:avLst>
              <a:gd name="adj" fmla="val 11119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3366889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11400" y="3366889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marketplace local, com descoberta por mapa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4001542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311400" y="4001542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liga vizinhos: reserva na app e recolha no produtor ou num ponto de recolha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4636195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2D6A4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UNLIKE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11400" y="4636195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FFDF9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feiras e mercados, lojas biológicas e anúncios online genéricos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5270847"/>
            <a:ext cx="1397000" cy="571153"/>
          </a:xfrm>
          <a:prstGeom prst="roundRect">
            <a:avLst>
              <a:gd name="adj" fmla="val 11118"/>
            </a:avLst>
          </a:prstGeom>
          <a:solidFill>
            <a:srgbClr val="C5703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311400" y="5270847"/>
            <a:ext cx="9067800" cy="571153"/>
          </a:xfrm>
          <a:prstGeom prst="roundRect">
            <a:avLst>
              <a:gd name="adj" fmla="val 11118"/>
            </a:avLst>
          </a:prstGeom>
          <a:solidFill>
            <a:srgbClr val="F5E3D6"/>
          </a:solidFill>
          <a:ln/>
        </p:spPr>
        <p:txBody>
          <a:bodyPr wrap="square" lIns="184601" tIns="32201" rIns="184601" bIns="32201" rtlCol="0" anchor="ctr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excedentes sem intermediários, alertas “avisem-me” e preço abaixo das lojas biológicas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5669399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695607" y="909340"/>
            <a:ext cx="1683593" cy="350490"/>
          </a:xfrm>
          <a:prstGeom prst="roundRect">
            <a:avLst>
              <a:gd name="adj" fmla="val 43482"/>
            </a:avLst>
          </a:prstGeom>
          <a:solidFill>
            <a:srgbClr val="C5703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 STAGE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00" y="1437630"/>
            <a:ext cx="2540000" cy="4404370"/>
          </a:xfrm>
          <a:prstGeom prst="roundRect">
            <a:avLst>
              <a:gd name="adj" fmla="val 3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1016000" y="2367409"/>
            <a:ext cx="21976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3D2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Proposta de valor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16000" y="2773809"/>
            <a:ext cx="2197608" cy="817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Compradores:</a:t>
            </a:r>
            <a:r>
              <a:rPr lang="en-US" sz="1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frescos e locais, perto de casa, com origem conhecida e pagamento seguro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6000" y="3743970"/>
            <a:ext cx="2197608" cy="6196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Vendedores:</a:t>
            </a:r>
            <a:r>
              <a:rPr lang="en-US" sz="1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 excedente vira rendimento; anunciar é grátis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16000" y="4516041"/>
            <a:ext cx="219760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Comunidade:</a:t>
            </a:r>
            <a:r>
              <a:rPr lang="en-US" sz="1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menos desperdício e economia local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05200" y="1437630"/>
            <a:ext cx="3860800" cy="2125960"/>
          </a:xfrm>
          <a:prstGeom prst="roundRect">
            <a:avLst>
              <a:gd name="adj" fmla="val 358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505200" y="1437630"/>
            <a:ext cx="3860800" cy="2125960"/>
          </a:xfrm>
          <a:custGeom>
            <a:avLst/>
            <a:gdLst/>
            <a:ahLst/>
            <a:cxnLst/>
            <a:rect l="l" t="t" r="r" b="b"/>
            <a:pathLst>
              <a:path w="3860800" h="212596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695700" y="164083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Segmentos de clientes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95700" y="19329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Multilateral: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dois públicos que precisam um do outro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95700" y="23774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Vendedores (prioritários):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hortas, pomares, animais e colmeias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95700" y="28219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Compradores: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quem quer frescos a bom preço; restaurantes e cafés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18400" y="1437630"/>
            <a:ext cx="3860800" cy="2125960"/>
          </a:xfrm>
          <a:prstGeom prst="roundRect">
            <a:avLst>
              <a:gd name="adj" fmla="val 358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Shape 14"/>
          <p:cNvSpPr/>
          <p:nvPr/>
        </p:nvSpPr>
        <p:spPr>
          <a:xfrm>
            <a:off x="7518400" y="1437630"/>
            <a:ext cx="3860800" cy="2125960"/>
          </a:xfrm>
          <a:custGeom>
            <a:avLst/>
            <a:gdLst/>
            <a:ahLst/>
            <a:cxnLst/>
            <a:rect l="l" t="t" r="r" b="b"/>
            <a:pathLst>
              <a:path w="3860800" h="212596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7" name="Text 15"/>
          <p:cNvSpPr/>
          <p:nvPr/>
        </p:nvSpPr>
        <p:spPr>
          <a:xfrm>
            <a:off x="7708900" y="164083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Relações com clientes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08900" y="193293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Autosserviço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 app e avaliações mútuas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08900" y="218693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ajuda presencial aos primeiros produtores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08900" y="2631430"/>
            <a:ext cx="36703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“Convida um vizinho”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 crédito para ambos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08900" y="288543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Fidelização: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alertas de disponibilidade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05200" y="3715990"/>
            <a:ext cx="3860800" cy="2126010"/>
          </a:xfrm>
          <a:prstGeom prst="roundRect">
            <a:avLst>
              <a:gd name="adj" fmla="val 358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Shape 21"/>
          <p:cNvSpPr/>
          <p:nvPr/>
        </p:nvSpPr>
        <p:spPr>
          <a:xfrm>
            <a:off x="3505200" y="3715990"/>
            <a:ext cx="3860800" cy="2126010"/>
          </a:xfrm>
          <a:custGeom>
            <a:avLst/>
            <a:gdLst/>
            <a:ahLst/>
            <a:cxnLst/>
            <a:rect l="l" t="t" r="r" b="b"/>
            <a:pathLst>
              <a:path w="3860800" h="212601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4" name="Text 22"/>
          <p:cNvSpPr/>
          <p:nvPr/>
        </p:nvSpPr>
        <p:spPr>
          <a:xfrm>
            <a:off x="3695700" y="391919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695700" y="421129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Conhecer: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juntas, feiras e redes sociais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95700" y="446529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Comprar: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 com mapa e reserva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95700" y="471929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Receber: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recolha no produtor ou em ponto partilhado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95700" y="5163790"/>
            <a:ext cx="358419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Voltar: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favoritos e alertas “avisar-me”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18400" y="3715990"/>
            <a:ext cx="3860800" cy="2126010"/>
          </a:xfrm>
          <a:prstGeom prst="roundRect">
            <a:avLst>
              <a:gd name="adj" fmla="val 3584"/>
            </a:avLst>
          </a:prstGeom>
          <a:solidFill>
            <a:srgbClr val="F5E3D6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7518400" y="3715990"/>
            <a:ext cx="3860800" cy="2126010"/>
          </a:xfrm>
          <a:custGeom>
            <a:avLst/>
            <a:gdLst/>
            <a:ahLst/>
            <a:cxnLst/>
            <a:rect l="l" t="t" r="r" b="b"/>
            <a:pathLst>
              <a:path w="3860800" h="212601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784600" y="0"/>
                </a:lnTo>
                <a:arcTo wR="76200" hR="76200" stAng="16200000" swAng="5400000"/>
                <a:lnTo>
                  <a:pt x="3860800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7708900" y="3919190"/>
            <a:ext cx="35841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Fontes de receita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708900" y="4223990"/>
            <a:ext cx="3584194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0,50 € + 5 %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708900" y="463545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compra, pago pelo comprador; </a:t>
            </a: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vender é grátis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08900" y="5092650"/>
            <a:ext cx="3584194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destaque no mapa · </a:t>
            </a: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Fase 2: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GrowNear Pro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5669399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818340" y="909340"/>
            <a:ext cx="1560860" cy="350490"/>
          </a:xfrm>
          <a:prstGeom prst="roundRect">
            <a:avLst>
              <a:gd name="adj" fmla="val 43482"/>
            </a:avLst>
          </a:prstGeom>
          <a:solidFill>
            <a:srgbClr val="2D6A4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STAGE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00" y="1437630"/>
            <a:ext cx="3420517" cy="3223270"/>
          </a:xfrm>
          <a:prstGeom prst="roundRect">
            <a:avLst>
              <a:gd name="adj" fmla="val 236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812800" y="1437630"/>
            <a:ext cx="3420517" cy="3223270"/>
          </a:xfrm>
          <a:custGeom>
            <a:avLst/>
            <a:gdLst/>
            <a:ahLst/>
            <a:cxnLst/>
            <a:rect l="l" t="t" r="r" b="b"/>
            <a:pathLst>
              <a:path w="3420517" h="322327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344317" y="0"/>
                </a:lnTo>
                <a:arcTo wR="76200" hR="76200" stAng="16200000" swAng="5400000"/>
                <a:lnTo>
                  <a:pt x="3420517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1003300" y="1666230"/>
            <a:ext cx="313070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Parceiros-chave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3300" y="1983730"/>
            <a:ext cx="313070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Pagamentos: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Stripe / MB Way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3300" y="22631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Institucionais: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juntas e câmaras (divulgação e credibilidade)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3300" y="27330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Setor: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cooperativas e associações agrícolas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3300" y="3202930"/>
            <a:ext cx="313070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Recolha: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cafés, mercearias e mercados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3300" y="3482330"/>
            <a:ext cx="323001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Tecnologia: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cloud (AWS / Azure) e mapas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5717" y="1437630"/>
            <a:ext cx="3420517" cy="3223270"/>
          </a:xfrm>
          <a:prstGeom prst="roundRect">
            <a:avLst>
              <a:gd name="adj" fmla="val 236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385717" y="1437630"/>
            <a:ext cx="3420517" cy="3223270"/>
          </a:xfrm>
          <a:custGeom>
            <a:avLst/>
            <a:gdLst/>
            <a:ahLst/>
            <a:cxnLst/>
            <a:rect l="l" t="t" r="r" b="b"/>
            <a:pathLst>
              <a:path w="3420517" h="322327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344317" y="0"/>
                </a:lnTo>
                <a:arcTo wR="76200" hR="76200" stAng="16200000" swAng="5400000"/>
                <a:lnTo>
                  <a:pt x="3420517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76217" y="1666230"/>
            <a:ext cx="313070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Atividades-chave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6217" y="19837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 com mapa, reservas, pagamentos e avaliações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6217" y="24536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Oferta primeiro: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captar produtores zona a zona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6217" y="2923530"/>
            <a:ext cx="313070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Confiança: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moderar anúncios, conflitos e reembolsos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6217" y="3393430"/>
            <a:ext cx="323001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Crescimento: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marketing local e parcerias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6217" y="3672830"/>
            <a:ext cx="313070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Conformidade: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regras fiscais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8634" y="1437630"/>
            <a:ext cx="3420566" cy="3223270"/>
          </a:xfrm>
          <a:prstGeom prst="roundRect">
            <a:avLst>
              <a:gd name="adj" fmla="val 2364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7958634" y="1437630"/>
            <a:ext cx="3420566" cy="3223270"/>
          </a:xfrm>
          <a:custGeom>
            <a:avLst/>
            <a:gdLst/>
            <a:ahLst/>
            <a:cxnLst/>
            <a:rect l="l" t="t" r="r" b="b"/>
            <a:pathLst>
              <a:path w="3420566" h="3223270">
                <a:moveTo>
                  <a:pt x="0" y="76200"/>
                </a:moveTo>
                <a:lnTo>
                  <a:pt x="0" y="76200"/>
                </a:lnTo>
                <a:arcTo wR="76200" hR="76200" stAng="10800000" swAng="5400000"/>
                <a:lnTo>
                  <a:pt x="3344366" y="0"/>
                </a:lnTo>
                <a:arcTo wR="76200" hR="76200" stAng="16200000" swAng="5400000"/>
                <a:lnTo>
                  <a:pt x="3420566" y="76200"/>
                </a:lnTo>
                <a:arcTo wR="76200" hR="25400" stAng="0" swAng="-5400000"/>
                <a:lnTo>
                  <a:pt x="76200" y="50800"/>
                </a:lnTo>
                <a:arcTo wR="76200" hR="25400" stAng="162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8149134" y="1666230"/>
            <a:ext cx="313075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Recursos-chave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49134" y="1983730"/>
            <a:ext cx="313075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Tecnológicos: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 e infraestrutura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49134" y="2263130"/>
            <a:ext cx="313075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desenvolvimento, marketing e apoio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49134" y="2733030"/>
            <a:ext cx="313075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Intelectuais: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marca e dados de oferta e procura por zona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49134" y="3202930"/>
            <a:ext cx="313075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base de utilizadores, o ativo mais valioso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49134" y="3672830"/>
            <a:ext cx="313075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Financeiros: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capital inicial para a V1.0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2800" y="4838700"/>
            <a:ext cx="10566400" cy="1003300"/>
          </a:xfrm>
          <a:prstGeom prst="roundRect">
            <a:avLst>
              <a:gd name="adj" fmla="val 7595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812800" y="4838700"/>
            <a:ext cx="10566400" cy="1003300"/>
          </a:xfrm>
          <a:custGeom>
            <a:avLst/>
            <a:gdLst/>
            <a:ahLst/>
            <a:cxnLst/>
            <a:rect l="l" t="t" r="r" b="b"/>
            <a:pathLst>
              <a:path w="10566400" h="1003300">
                <a:moveTo>
                  <a:pt x="76200" y="1003300"/>
                </a:moveTo>
                <a:lnTo>
                  <a:pt x="76200" y="1003300"/>
                </a:lnTo>
                <a:arcTo wR="76200" hR="76200" stAng="5400000" swAng="5400000"/>
                <a:lnTo>
                  <a:pt x="0" y="76200"/>
                </a:lnTo>
                <a:arcTo wR="76200" hR="76200" stAng="10800000" swAng="5400000"/>
                <a:lnTo>
                  <a:pt x="76200" y="0"/>
                </a:lnTo>
                <a:arcTo wR="25400" hR="76200" stAng="16200000" swAng="-5400000"/>
                <a:lnTo>
                  <a:pt x="50800" y="927100"/>
                </a:lnTo>
                <a:arcTo wR="25400" hR="762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4100" y="4991100"/>
            <a:ext cx="104386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 de custos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54100" y="5308600"/>
            <a:ext cx="33399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Fixos: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app, salários, servidores, licenças, jurídico e contabilidade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00017" y="5308600"/>
            <a:ext cx="33399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Variáveis: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comissões de pagamento, marketing, apoio, reembolsos e incentivos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945934" y="5308600"/>
            <a:ext cx="333999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Lógica:</a:t>
            </a: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orientado ao custo, operação leve e automatizada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SWOT</a:t>
            </a:r>
            <a:endParaRPr lang="en-US" sz="3200" dirty="0"/>
          </a:p>
        </p:txBody>
      </p:sp>
      <p:pic>
        <p:nvPicPr>
          <p:cNvPr id="3" name="Image 0" descr="Análise SWOT da GrowNear"/>
          <p:cNvPicPr>
            <a:picLocks noChangeAspect="1"/>
          </p:cNvPicPr>
          <p:nvPr/>
        </p:nvPicPr>
        <p:blipFill>
          <a:blip r:embed="rId3"/>
          <a:srcRect t="-41" b="-41"/>
          <a:stretch/>
        </p:blipFill>
        <p:spPr>
          <a:xfrm>
            <a:off x="812800" y="1674465"/>
            <a:ext cx="5207000" cy="3905250"/>
          </a:xfrm>
          <a:prstGeom prst="roundRect">
            <a:avLst>
              <a:gd name="adj" fmla="val 1951"/>
            </a:avLst>
          </a:prstGeom>
        </p:spPr>
      </p:pic>
      <p:sp>
        <p:nvSpPr>
          <p:cNvPr id="4" name="Text 1"/>
          <p:cNvSpPr/>
          <p:nvPr/>
        </p:nvSpPr>
        <p:spPr>
          <a:xfrm>
            <a:off x="6324600" y="1590229"/>
            <a:ext cx="52062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LEITURA ESTRATÉGICA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324600" y="1892449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Shape 3"/>
          <p:cNvSpPr/>
          <p:nvPr/>
        </p:nvSpPr>
        <p:spPr>
          <a:xfrm>
            <a:off x="6324600" y="1892449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4"/>
          <p:cNvSpPr/>
          <p:nvPr/>
        </p:nvSpPr>
        <p:spPr>
          <a:xfrm>
            <a:off x="6553200" y="2006749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+ O: Atacar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53200" y="2258169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Marca de proximidade e alertas para quem procura produto local, com o apoio das autarquias.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24600" y="2857550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Shape 7"/>
          <p:cNvSpPr/>
          <p:nvPr/>
        </p:nvSpPr>
        <p:spPr>
          <a:xfrm>
            <a:off x="6324600" y="2857550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74A88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6553200" y="2971850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E7A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 + O: Reforçar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53200" y="3223270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Parcerias com juntas, cooperativas e restaurantes para compensar a oferta irregular e a pouca experiência.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24600" y="3822650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Shape 11"/>
          <p:cNvSpPr/>
          <p:nvPr/>
        </p:nvSpPr>
        <p:spPr>
          <a:xfrm>
            <a:off x="6324600" y="3822650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5" name="Text 12"/>
          <p:cNvSpPr/>
          <p:nvPr/>
        </p:nvSpPr>
        <p:spPr>
          <a:xfrm>
            <a:off x="6553200" y="3936950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85A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+ T: Defender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53200" y="4188371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Pagamento seguro e avaliações como vantagem face ao OLX e ao Facebook, que são grátis.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24600" y="4787751"/>
            <a:ext cx="5054600" cy="876201"/>
          </a:xfrm>
          <a:prstGeom prst="roundRect">
            <a:avLst>
              <a:gd name="adj" fmla="val 7247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Shape 15"/>
          <p:cNvSpPr/>
          <p:nvPr/>
        </p:nvSpPr>
        <p:spPr>
          <a:xfrm>
            <a:off x="6324600" y="4787751"/>
            <a:ext cx="5054600" cy="876201"/>
          </a:xfrm>
          <a:custGeom>
            <a:avLst/>
            <a:gdLst/>
            <a:ahLst/>
            <a:cxnLst/>
            <a:rect l="l" t="t" r="r" b="b"/>
            <a:pathLst>
              <a:path w="5054600" h="876201">
                <a:moveTo>
                  <a:pt x="63500" y="876201"/>
                </a:moveTo>
                <a:lnTo>
                  <a:pt x="63500" y="876201"/>
                </a:lnTo>
                <a:arcTo wR="63500" hR="63500" stAng="5400000" swAng="5400000"/>
                <a:lnTo>
                  <a:pt x="0" y="63500"/>
                </a:lnTo>
                <a:arcTo wR="63500" hR="63500" stAng="10800000" swAng="5400000"/>
                <a:lnTo>
                  <a:pt x="63500" y="0"/>
                </a:lnTo>
                <a:arcTo wR="12700" hR="63500" stAng="16200000" swAng="-5400000"/>
                <a:lnTo>
                  <a:pt x="50800" y="812701"/>
                </a:lnTo>
                <a:arcTo wR="12700" hR="63500" stAng="10800000" swAng="-5400000"/>
                <a:close/>
              </a:path>
            </a:pathLst>
          </a:custGeom>
          <a:solidFill>
            <a:srgbClr val="8C3F1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6"/>
          <p:cNvSpPr/>
          <p:nvPr/>
        </p:nvSpPr>
        <p:spPr>
          <a:xfrm>
            <a:off x="6553200" y="4902051"/>
            <a:ext cx="478764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C3F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 + T: Prevenir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53200" y="5153471"/>
            <a:ext cx="4787646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Regras de segurança alimentar e moderação para proteger a marca; crescer zona a zona.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Estudo de mercado: Objetivos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488430"/>
            <a:ext cx="10566400" cy="1280120"/>
          </a:xfrm>
          <a:prstGeom prst="roundRect">
            <a:avLst>
              <a:gd name="adj" fmla="val 5953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1117600" y="1717030"/>
            <a:ext cx="102555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E9A9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 GERAL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7600" y="2006550"/>
            <a:ext cx="1025550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Identificar os segmentos de compradores com maior interesse em comprar produtos locais a pequenos produtores através de uma app como a GrowNear, e as condições em que o fariam.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00" y="29971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965200" y="32282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49400" y="3237161"/>
            <a:ext cx="1864757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Perfil dos inquiridos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6000" y="29971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6248400" y="32282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32600" y="3237161"/>
            <a:ext cx="449484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Fatores mais importantes na decisão de compra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800" y="37083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965200" y="39394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49400" y="3948361"/>
            <a:ext cx="369260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Hábitos de compra de frutas e legumes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6000" y="37083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48400" y="39394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32600" y="3948361"/>
            <a:ext cx="394745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Aceitação do pagamento na app e da taxa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800" y="44195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9" name="Text 17"/>
          <p:cNvSpPr/>
          <p:nvPr/>
        </p:nvSpPr>
        <p:spPr>
          <a:xfrm>
            <a:off x="965200" y="46506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49400" y="4659561"/>
            <a:ext cx="322510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Interesse e intenção de usar a app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96000" y="4419550"/>
            <a:ext cx="5283200" cy="711200"/>
          </a:xfrm>
          <a:prstGeom prst="roundRect">
            <a:avLst>
              <a:gd name="adj" fmla="val 8929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248400" y="465068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32600" y="4659561"/>
            <a:ext cx="34353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Segmentos prioritários (cruzamento)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2800" y="5130750"/>
            <a:ext cx="5283200" cy="711250"/>
          </a:xfrm>
          <a:prstGeom prst="roundRect">
            <a:avLst>
              <a:gd name="adj" fmla="val 8928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965200" y="536193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49400" y="5370810"/>
            <a:ext cx="436447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Disposição para se deslocar (tempo e recolha)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6000" y="5130750"/>
            <a:ext cx="5283200" cy="711250"/>
          </a:xfrm>
          <a:prstGeom prst="roundRect">
            <a:avLst>
              <a:gd name="adj" fmla="val 8928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Text 26"/>
          <p:cNvSpPr/>
          <p:nvPr/>
        </p:nvSpPr>
        <p:spPr>
          <a:xfrm>
            <a:off x="6248400" y="5361930"/>
            <a:ext cx="5080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57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OE8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32600" y="5370810"/>
            <a:ext cx="4241125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Aceitação de oferta limitada à época e região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Inquérito por questionário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513830"/>
            <a:ext cx="3302000" cy="2418209"/>
          </a:xfrm>
          <a:prstGeom prst="roundRect">
            <a:avLst>
              <a:gd name="adj" fmla="val 3151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/>
          <p:nvPr/>
        </p:nvSpPr>
        <p:spPr>
          <a:xfrm>
            <a:off x="1041400" y="2280989"/>
            <a:ext cx="293014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114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1400" y="2915989"/>
            <a:ext cx="293014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respostas obtidas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12800" y="4059039"/>
            <a:ext cx="3302000" cy="827980"/>
          </a:xfrm>
          <a:prstGeom prst="roundRect">
            <a:avLst>
              <a:gd name="adj" fmla="val 9203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Text 5"/>
          <p:cNvSpPr/>
          <p:nvPr/>
        </p:nvSpPr>
        <p:spPr>
          <a:xfrm>
            <a:off x="1041400" y="4211439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PERÍODO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1400" y="4450159"/>
            <a:ext cx="293014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 11 out. 2026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800" y="5014020"/>
            <a:ext cx="3302000" cy="827980"/>
          </a:xfrm>
          <a:prstGeom prst="roundRect">
            <a:avLst>
              <a:gd name="adj" fmla="val 9203"/>
            </a:avLst>
          </a:prstGeom>
          <a:solidFill>
            <a:srgbClr val="FFFDF9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041400" y="5166420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1400" y="5405140"/>
            <a:ext cx="293014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2B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Forms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3100" y="1526530"/>
          <a:ext cx="6896100" cy="2865040"/>
        </p:xfrm>
        <a:graphic>
          <a:graphicData uri="http://schemas.openxmlformats.org/drawingml/2006/table">
            <a:tbl>
              <a:tblPr/>
              <a:tblGrid>
                <a:gridCol w="229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D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Secção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D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DF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Perguntas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Hábitos de compra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P1–P7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4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Critérios de compra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P8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Recolha e deslocação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P9–P11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Pagamento e taxa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P12–P16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Produtos da época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P17–P18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Interesse na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P19–P22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130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85A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Perfil dos inquiridos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2B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P23–P29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27000" marR="127000" marT="57150" marB="57150">
                    <a:lnL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2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470400" y="4518571"/>
            <a:ext cx="711606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perguntas fechadas · ~6 minutos · sem perguntas abertas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D6A4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B776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6000" y="2032000"/>
            <a:ext cx="4826000" cy="4826000"/>
          </a:xfrm>
          <a:prstGeom prst="roundRect">
            <a:avLst>
              <a:gd name="adj" fmla="val 33684"/>
            </a:avLst>
          </a:prstGeom>
          <a:solidFill>
            <a:srgbClr val="346F54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10160000" y="1143000"/>
            <a:ext cx="1016000" cy="10160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2115840"/>
            <a:ext cx="10883392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8000"/>
              </a:lnSpc>
              <a:buNone/>
            </a:pPr>
            <a:r>
              <a:rPr lang="en-US" sz="8000" b="1" i="0" kern="0" spc="-200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Obrigado!</a:t>
            </a:r>
            <a:endParaRPr lang="en-US" sz="8000" dirty="0"/>
          </a:p>
        </p:txBody>
      </p:sp>
      <p:sp>
        <p:nvSpPr>
          <p:cNvPr id="5" name="Shape 3"/>
          <p:cNvSpPr/>
          <p:nvPr/>
        </p:nvSpPr>
        <p:spPr>
          <a:xfrm>
            <a:off x="812800" y="333504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C5703C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812800" y="3589040"/>
            <a:ext cx="10883392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D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Prontos para as questões.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12800" y="421893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i="1" dirty="0">
                <a:solidFill>
                  <a:srgbClr val="F3E2D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 — “Do quintal para a mesa do vizinho”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2800" y="6238280"/>
            <a:ext cx="9142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GrowNear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F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wNear — Momento 1">
  <a:themeElements>
    <a:clrScheme name="GrowNear — Momento 1">
      <a:dk1>
        <a:srgbClr val="2D6A4F"/>
      </a:dk1>
      <a:lt1>
        <a:srgbClr val="F7F3EC"/>
      </a:lt1>
      <a:dk2>
        <a:srgbClr val="608C76"/>
      </a:dk2>
      <a:lt2>
        <a:srgbClr val="E3E5DC"/>
      </a:lt2>
      <a:accent1>
        <a:srgbClr val="C5703C"/>
      </a:accent1>
      <a:accent2>
        <a:srgbClr val="A85A2A"/>
      </a:accent2>
      <a:accent3>
        <a:srgbClr val="E9A97E"/>
      </a:accent3>
      <a:accent4>
        <a:srgbClr val="4F8A6E"/>
      </a:accent4>
      <a:accent5>
        <a:srgbClr val="F3D2BC"/>
      </a:accent5>
      <a:accent6>
        <a:srgbClr val="8C3F1C"/>
      </a:accent6>
      <a:hlink>
        <a:srgbClr val="0563C1"/>
      </a:hlink>
      <a:folHlink>
        <a:srgbClr val="954F72"/>
      </a:folHlink>
    </a:clrScheme>
    <a:fontScheme name="GrowNear — Momento 1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1505</Words>
  <Application>Microsoft Office PowerPoint</Application>
  <PresentationFormat>Ecrã Panorâmico</PresentationFormat>
  <Paragraphs>180</Paragraphs>
  <Slides>9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2" baseType="lpstr">
      <vt:lpstr>Arial</vt:lpstr>
      <vt:lpstr>Inter</vt:lpstr>
      <vt:lpstr>GrowNear — Momento 1</vt:lpstr>
      <vt:lpstr>GrowNear</vt:lpstr>
      <vt:lpstr>Ideia de negócio</vt:lpstr>
      <vt:lpstr>Proposta de valor</vt:lpstr>
      <vt:lpstr>Business Model Canvas</vt:lpstr>
      <vt:lpstr>Business Model Canvas</vt:lpstr>
      <vt:lpstr>Análise SWOT</vt:lpstr>
      <vt:lpstr>Estudo de mercado: Objetivos</vt:lpstr>
      <vt:lpstr>Inquérito por questionário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GrowNear — Momento 1</dc:title>
  <dc:subject/>
  <dc:creator/>
  <cp:lastModifiedBy>Bruno Lopes - BIMMS</cp:lastModifiedBy>
  <cp:revision>4</cp:revision>
  <dcterms:created xsi:type="dcterms:W3CDTF">2026-10-15T18:17:14Z</dcterms:created>
  <dcterms:modified xsi:type="dcterms:W3CDTF">2026-10-22T15:43:06Z</dcterms:modified>
</cp:coreProperties>
</file>